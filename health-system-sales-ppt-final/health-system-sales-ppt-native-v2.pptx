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5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56692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750" b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21-DAY HEALTH OS</a:t>
            </a:r>
            <a:endParaRPr sz="750" b="0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869680" y="292608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4000"/>
              </a:lnSpc>
            </a:pPr>
            <a:r>
              <a:rPr sz="750" b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01 / 21</a:t>
            </a:r>
            <a:endParaRPr sz="750" b="0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594360" y="612648"/>
            <a:ext cx="11000232" cy="0"/>
          </a:xfrm>
          <a:prstGeom prst="line">
            <a:avLst/>
          </a:prstGeom>
          <a:ln w="444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640080" y="960120"/>
            <a:ext cx="14630" cy="14630"/>
          </a:xfrm>
          <a:prstGeom prst="ellipse">
            <a:avLst/>
          </a:prstGeom>
          <a:solidFill>
            <a:srgbClr val="5D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0080" y="1865376"/>
            <a:ext cx="14630" cy="14630"/>
          </a:xfrm>
          <a:prstGeom prst="ellipse">
            <a:avLst/>
          </a:prstGeom>
          <a:solidFill>
            <a:srgbClr val="5D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0080" y="2770632"/>
            <a:ext cx="14630" cy="14630"/>
          </a:xfrm>
          <a:prstGeom prst="ellipse">
            <a:avLst/>
          </a:prstGeom>
          <a:solidFill>
            <a:srgbClr val="5D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40080" y="3675888"/>
            <a:ext cx="14630" cy="14630"/>
          </a:xfrm>
          <a:prstGeom prst="ellipse">
            <a:avLst/>
          </a:prstGeom>
          <a:solidFill>
            <a:srgbClr val="5D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0080" y="4581144"/>
            <a:ext cx="14630" cy="14630"/>
          </a:xfrm>
          <a:prstGeom prst="ellipse">
            <a:avLst/>
          </a:prstGeom>
          <a:solidFill>
            <a:srgbClr val="5D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40080" y="5486400"/>
            <a:ext cx="14630" cy="14630"/>
          </a:xfrm>
          <a:prstGeom prst="ellipse">
            <a:avLst/>
          </a:prstGeom>
          <a:solidFill>
            <a:srgbClr val="5D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41832" y="1563624"/>
            <a:ext cx="14630" cy="14630"/>
          </a:xfrm>
          <a:prstGeom prst="ellipse">
            <a:avLst/>
          </a:prstGeom>
          <a:solidFill>
            <a:srgbClr val="5D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41832" y="2468880"/>
            <a:ext cx="14630" cy="14630"/>
          </a:xfrm>
          <a:prstGeom prst="ellipse">
            <a:avLst/>
          </a:prstGeom>
          <a:solidFill>
            <a:srgbClr val="5D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41832" y="3374136"/>
            <a:ext cx="14630" cy="14630"/>
          </a:xfrm>
          <a:prstGeom prst="ellipse">
            <a:avLst/>
          </a:prstGeom>
          <a:solidFill>
            <a:srgbClr val="5D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41832" y="4279392"/>
            <a:ext cx="14630" cy="14630"/>
          </a:xfrm>
          <a:prstGeom prst="ellipse">
            <a:avLst/>
          </a:prstGeom>
          <a:solidFill>
            <a:srgbClr val="5D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41832" y="5184648"/>
            <a:ext cx="14630" cy="14630"/>
          </a:xfrm>
          <a:prstGeom prst="ellipse">
            <a:avLst/>
          </a:prstGeom>
          <a:solidFill>
            <a:srgbClr val="5D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243584" y="1261872"/>
            <a:ext cx="14630" cy="14630"/>
          </a:xfrm>
          <a:prstGeom prst="ellipse">
            <a:avLst/>
          </a:prstGeom>
          <a:solidFill>
            <a:srgbClr val="5D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243584" y="2167128"/>
            <a:ext cx="14630" cy="14630"/>
          </a:xfrm>
          <a:prstGeom prst="ellipse">
            <a:avLst/>
          </a:prstGeom>
          <a:solidFill>
            <a:srgbClr val="5D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43584" y="3072384"/>
            <a:ext cx="14630" cy="14630"/>
          </a:xfrm>
          <a:prstGeom prst="ellipse">
            <a:avLst/>
          </a:prstGeom>
          <a:solidFill>
            <a:srgbClr val="5D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243584" y="3977640"/>
            <a:ext cx="14630" cy="14630"/>
          </a:xfrm>
          <a:prstGeom prst="ellipse">
            <a:avLst/>
          </a:prstGeom>
          <a:solidFill>
            <a:srgbClr val="5D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243584" y="4882896"/>
            <a:ext cx="14630" cy="14630"/>
          </a:xfrm>
          <a:prstGeom prst="ellipse">
            <a:avLst/>
          </a:prstGeom>
          <a:solidFill>
            <a:srgbClr val="5D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545336" y="960120"/>
            <a:ext cx="14630" cy="14630"/>
          </a:xfrm>
          <a:prstGeom prst="ellipse">
            <a:avLst/>
          </a:prstGeom>
          <a:solidFill>
            <a:srgbClr val="5D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545336" y="1865376"/>
            <a:ext cx="14630" cy="14630"/>
          </a:xfrm>
          <a:prstGeom prst="ellipse">
            <a:avLst/>
          </a:prstGeom>
          <a:solidFill>
            <a:srgbClr val="5D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545336" y="2770632"/>
            <a:ext cx="14630" cy="14630"/>
          </a:xfrm>
          <a:prstGeom prst="ellipse">
            <a:avLst/>
          </a:prstGeom>
          <a:solidFill>
            <a:srgbClr val="5D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545336" y="3675888"/>
            <a:ext cx="14630" cy="14630"/>
          </a:xfrm>
          <a:prstGeom prst="ellipse">
            <a:avLst/>
          </a:prstGeom>
          <a:solidFill>
            <a:srgbClr val="5D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545336" y="4581144"/>
            <a:ext cx="14630" cy="14630"/>
          </a:xfrm>
          <a:prstGeom prst="ellipse">
            <a:avLst/>
          </a:prstGeom>
          <a:solidFill>
            <a:srgbClr val="5D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545336" y="5486400"/>
            <a:ext cx="14630" cy="14630"/>
          </a:xfrm>
          <a:prstGeom prst="ellipse">
            <a:avLst/>
          </a:prstGeom>
          <a:solidFill>
            <a:srgbClr val="5D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847088" y="1563624"/>
            <a:ext cx="14630" cy="14630"/>
          </a:xfrm>
          <a:prstGeom prst="ellipse">
            <a:avLst/>
          </a:prstGeom>
          <a:solidFill>
            <a:srgbClr val="5D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847088" y="2468880"/>
            <a:ext cx="14630" cy="14630"/>
          </a:xfrm>
          <a:prstGeom prst="ellipse">
            <a:avLst/>
          </a:prstGeom>
          <a:solidFill>
            <a:srgbClr val="5D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847088" y="3374136"/>
            <a:ext cx="14630" cy="14630"/>
          </a:xfrm>
          <a:prstGeom prst="ellipse">
            <a:avLst/>
          </a:prstGeom>
          <a:solidFill>
            <a:srgbClr val="5D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847088" y="4279392"/>
            <a:ext cx="14630" cy="14630"/>
          </a:xfrm>
          <a:prstGeom prst="ellipse">
            <a:avLst/>
          </a:prstGeom>
          <a:solidFill>
            <a:srgbClr val="5D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847088" y="5184648"/>
            <a:ext cx="14630" cy="14630"/>
          </a:xfrm>
          <a:prstGeom prst="ellipse">
            <a:avLst/>
          </a:prstGeom>
          <a:solidFill>
            <a:srgbClr val="5D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2148840" y="1261872"/>
            <a:ext cx="14630" cy="14630"/>
          </a:xfrm>
          <a:prstGeom prst="ellipse">
            <a:avLst/>
          </a:prstGeom>
          <a:solidFill>
            <a:srgbClr val="5D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2148840" y="2167128"/>
            <a:ext cx="14630" cy="14630"/>
          </a:xfrm>
          <a:prstGeom prst="ellipse">
            <a:avLst/>
          </a:prstGeom>
          <a:solidFill>
            <a:srgbClr val="5D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2148840" y="3072384"/>
            <a:ext cx="14630" cy="14630"/>
          </a:xfrm>
          <a:prstGeom prst="ellipse">
            <a:avLst/>
          </a:prstGeom>
          <a:solidFill>
            <a:srgbClr val="5D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2148840" y="3977640"/>
            <a:ext cx="14630" cy="14630"/>
          </a:xfrm>
          <a:prstGeom prst="ellipse">
            <a:avLst/>
          </a:prstGeom>
          <a:solidFill>
            <a:srgbClr val="5D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2148840" y="4882896"/>
            <a:ext cx="14630" cy="14630"/>
          </a:xfrm>
          <a:prstGeom prst="ellipse">
            <a:avLst/>
          </a:prstGeom>
          <a:solidFill>
            <a:srgbClr val="5D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2450591" y="960120"/>
            <a:ext cx="14630" cy="14630"/>
          </a:xfrm>
          <a:prstGeom prst="ellipse">
            <a:avLst/>
          </a:prstGeom>
          <a:solidFill>
            <a:srgbClr val="5D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2450591" y="1865376"/>
            <a:ext cx="14630" cy="14630"/>
          </a:xfrm>
          <a:prstGeom prst="ellipse">
            <a:avLst/>
          </a:prstGeom>
          <a:solidFill>
            <a:srgbClr val="5D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2450591" y="2770632"/>
            <a:ext cx="14630" cy="14630"/>
          </a:xfrm>
          <a:prstGeom prst="ellipse">
            <a:avLst/>
          </a:prstGeom>
          <a:solidFill>
            <a:srgbClr val="5D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2450591" y="3675888"/>
            <a:ext cx="14630" cy="14630"/>
          </a:xfrm>
          <a:prstGeom prst="ellipse">
            <a:avLst/>
          </a:prstGeom>
          <a:solidFill>
            <a:srgbClr val="5D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2450591" y="4581144"/>
            <a:ext cx="14630" cy="14630"/>
          </a:xfrm>
          <a:prstGeom prst="ellipse">
            <a:avLst/>
          </a:prstGeom>
          <a:solidFill>
            <a:srgbClr val="5D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2450591" y="5486400"/>
            <a:ext cx="14630" cy="14630"/>
          </a:xfrm>
          <a:prstGeom prst="ellipse">
            <a:avLst/>
          </a:prstGeom>
          <a:solidFill>
            <a:srgbClr val="5D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2752344" y="1563624"/>
            <a:ext cx="14630" cy="14630"/>
          </a:xfrm>
          <a:prstGeom prst="ellipse">
            <a:avLst/>
          </a:prstGeom>
          <a:solidFill>
            <a:srgbClr val="5D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2752344" y="2468880"/>
            <a:ext cx="14630" cy="14630"/>
          </a:xfrm>
          <a:prstGeom prst="ellipse">
            <a:avLst/>
          </a:prstGeom>
          <a:solidFill>
            <a:srgbClr val="5D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2752344" y="3374136"/>
            <a:ext cx="14630" cy="14630"/>
          </a:xfrm>
          <a:prstGeom prst="ellipse">
            <a:avLst/>
          </a:prstGeom>
          <a:solidFill>
            <a:srgbClr val="5D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2752344" y="4279392"/>
            <a:ext cx="14630" cy="14630"/>
          </a:xfrm>
          <a:prstGeom prst="ellipse">
            <a:avLst/>
          </a:prstGeom>
          <a:solidFill>
            <a:srgbClr val="5D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2752344" y="5184648"/>
            <a:ext cx="14630" cy="14630"/>
          </a:xfrm>
          <a:prstGeom prst="ellipse">
            <a:avLst/>
          </a:prstGeom>
          <a:solidFill>
            <a:srgbClr val="5D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3054096" y="1261872"/>
            <a:ext cx="14630" cy="14630"/>
          </a:xfrm>
          <a:prstGeom prst="ellipse">
            <a:avLst/>
          </a:prstGeom>
          <a:solidFill>
            <a:srgbClr val="5D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3054096" y="2167128"/>
            <a:ext cx="14630" cy="14630"/>
          </a:xfrm>
          <a:prstGeom prst="ellipse">
            <a:avLst/>
          </a:prstGeom>
          <a:solidFill>
            <a:srgbClr val="5D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3054096" y="3072384"/>
            <a:ext cx="14630" cy="14630"/>
          </a:xfrm>
          <a:prstGeom prst="ellipse">
            <a:avLst/>
          </a:prstGeom>
          <a:solidFill>
            <a:srgbClr val="5D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3054096" y="3977640"/>
            <a:ext cx="14630" cy="14630"/>
          </a:xfrm>
          <a:prstGeom prst="ellipse">
            <a:avLst/>
          </a:prstGeom>
          <a:solidFill>
            <a:srgbClr val="5D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3054096" y="4882896"/>
            <a:ext cx="14630" cy="14630"/>
          </a:xfrm>
          <a:prstGeom prst="ellipse">
            <a:avLst/>
          </a:prstGeom>
          <a:solidFill>
            <a:srgbClr val="5D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3355848" y="960120"/>
            <a:ext cx="14630" cy="14630"/>
          </a:xfrm>
          <a:prstGeom prst="ellipse">
            <a:avLst/>
          </a:prstGeom>
          <a:solidFill>
            <a:srgbClr val="5D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3355848" y="1865376"/>
            <a:ext cx="14630" cy="14630"/>
          </a:xfrm>
          <a:prstGeom prst="ellipse">
            <a:avLst/>
          </a:prstGeom>
          <a:solidFill>
            <a:srgbClr val="5D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3355848" y="2770632"/>
            <a:ext cx="14630" cy="14630"/>
          </a:xfrm>
          <a:prstGeom prst="ellipse">
            <a:avLst/>
          </a:prstGeom>
          <a:solidFill>
            <a:srgbClr val="5D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3355848" y="3675888"/>
            <a:ext cx="14630" cy="14630"/>
          </a:xfrm>
          <a:prstGeom prst="ellipse">
            <a:avLst/>
          </a:prstGeom>
          <a:solidFill>
            <a:srgbClr val="5D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3355848" y="4581144"/>
            <a:ext cx="14630" cy="14630"/>
          </a:xfrm>
          <a:prstGeom prst="ellipse">
            <a:avLst/>
          </a:prstGeom>
          <a:solidFill>
            <a:srgbClr val="5D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3355848" y="5486400"/>
            <a:ext cx="14630" cy="14630"/>
          </a:xfrm>
          <a:prstGeom prst="ellipse">
            <a:avLst/>
          </a:prstGeom>
          <a:solidFill>
            <a:srgbClr val="5D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3657600" y="1563624"/>
            <a:ext cx="14630" cy="14630"/>
          </a:xfrm>
          <a:prstGeom prst="ellipse">
            <a:avLst/>
          </a:prstGeom>
          <a:solidFill>
            <a:srgbClr val="5D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3657600" y="2468880"/>
            <a:ext cx="14630" cy="14630"/>
          </a:xfrm>
          <a:prstGeom prst="ellipse">
            <a:avLst/>
          </a:prstGeom>
          <a:solidFill>
            <a:srgbClr val="5D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3657600" y="3374136"/>
            <a:ext cx="14630" cy="14630"/>
          </a:xfrm>
          <a:prstGeom prst="ellipse">
            <a:avLst/>
          </a:prstGeom>
          <a:solidFill>
            <a:srgbClr val="5D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3657600" y="4279392"/>
            <a:ext cx="14630" cy="14630"/>
          </a:xfrm>
          <a:prstGeom prst="ellipse">
            <a:avLst/>
          </a:prstGeom>
          <a:solidFill>
            <a:srgbClr val="5D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3657600" y="5184648"/>
            <a:ext cx="14630" cy="14630"/>
          </a:xfrm>
          <a:prstGeom prst="ellipse">
            <a:avLst/>
          </a:prstGeom>
          <a:solidFill>
            <a:srgbClr val="5D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3959352" y="1261872"/>
            <a:ext cx="14630" cy="14630"/>
          </a:xfrm>
          <a:prstGeom prst="ellipse">
            <a:avLst/>
          </a:prstGeom>
          <a:solidFill>
            <a:srgbClr val="5D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3959352" y="2167128"/>
            <a:ext cx="14630" cy="14630"/>
          </a:xfrm>
          <a:prstGeom prst="ellipse">
            <a:avLst/>
          </a:prstGeom>
          <a:solidFill>
            <a:srgbClr val="5D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3959352" y="3072384"/>
            <a:ext cx="14630" cy="14630"/>
          </a:xfrm>
          <a:prstGeom prst="ellipse">
            <a:avLst/>
          </a:prstGeom>
          <a:solidFill>
            <a:srgbClr val="5D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3959352" y="3977640"/>
            <a:ext cx="14630" cy="14630"/>
          </a:xfrm>
          <a:prstGeom prst="ellipse">
            <a:avLst/>
          </a:prstGeom>
          <a:solidFill>
            <a:srgbClr val="5D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3959352" y="4882896"/>
            <a:ext cx="14630" cy="14630"/>
          </a:xfrm>
          <a:prstGeom prst="ellipse">
            <a:avLst/>
          </a:prstGeom>
          <a:solidFill>
            <a:srgbClr val="5D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4261104" y="960120"/>
            <a:ext cx="14630" cy="14630"/>
          </a:xfrm>
          <a:prstGeom prst="ellipse">
            <a:avLst/>
          </a:prstGeom>
          <a:solidFill>
            <a:srgbClr val="5D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4261104" y="1865376"/>
            <a:ext cx="14630" cy="14630"/>
          </a:xfrm>
          <a:prstGeom prst="ellipse">
            <a:avLst/>
          </a:prstGeom>
          <a:solidFill>
            <a:srgbClr val="5D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4261104" y="2770632"/>
            <a:ext cx="14630" cy="14630"/>
          </a:xfrm>
          <a:prstGeom prst="ellipse">
            <a:avLst/>
          </a:prstGeom>
          <a:solidFill>
            <a:srgbClr val="5D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4261104" y="3675888"/>
            <a:ext cx="14630" cy="14630"/>
          </a:xfrm>
          <a:prstGeom prst="ellipse">
            <a:avLst/>
          </a:prstGeom>
          <a:solidFill>
            <a:srgbClr val="5D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4261104" y="4581144"/>
            <a:ext cx="14630" cy="14630"/>
          </a:xfrm>
          <a:prstGeom prst="ellipse">
            <a:avLst/>
          </a:prstGeom>
          <a:solidFill>
            <a:srgbClr val="5D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4261104" y="5486400"/>
            <a:ext cx="14630" cy="14630"/>
          </a:xfrm>
          <a:prstGeom prst="ellipse">
            <a:avLst/>
          </a:prstGeom>
          <a:solidFill>
            <a:srgbClr val="5D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4562856" y="1563624"/>
            <a:ext cx="14630" cy="14630"/>
          </a:xfrm>
          <a:prstGeom prst="ellipse">
            <a:avLst/>
          </a:prstGeom>
          <a:solidFill>
            <a:srgbClr val="5D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4562856" y="2468880"/>
            <a:ext cx="14630" cy="14630"/>
          </a:xfrm>
          <a:prstGeom prst="ellipse">
            <a:avLst/>
          </a:prstGeom>
          <a:solidFill>
            <a:srgbClr val="5D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4562856" y="3374136"/>
            <a:ext cx="14630" cy="14630"/>
          </a:xfrm>
          <a:prstGeom prst="ellipse">
            <a:avLst/>
          </a:prstGeom>
          <a:solidFill>
            <a:srgbClr val="5D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4562856" y="4279392"/>
            <a:ext cx="14630" cy="14630"/>
          </a:xfrm>
          <a:prstGeom prst="ellipse">
            <a:avLst/>
          </a:prstGeom>
          <a:solidFill>
            <a:srgbClr val="5D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4562856" y="5184648"/>
            <a:ext cx="14630" cy="14630"/>
          </a:xfrm>
          <a:prstGeom prst="ellipse">
            <a:avLst/>
          </a:prstGeom>
          <a:solidFill>
            <a:srgbClr val="5D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4864608" y="1261872"/>
            <a:ext cx="14630" cy="14630"/>
          </a:xfrm>
          <a:prstGeom prst="ellipse">
            <a:avLst/>
          </a:prstGeom>
          <a:solidFill>
            <a:srgbClr val="5D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4864608" y="2167128"/>
            <a:ext cx="14630" cy="14630"/>
          </a:xfrm>
          <a:prstGeom prst="ellipse">
            <a:avLst/>
          </a:prstGeom>
          <a:solidFill>
            <a:srgbClr val="5D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4864608" y="3072384"/>
            <a:ext cx="14630" cy="14630"/>
          </a:xfrm>
          <a:prstGeom prst="ellipse">
            <a:avLst/>
          </a:prstGeom>
          <a:solidFill>
            <a:srgbClr val="5D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4864608" y="3977640"/>
            <a:ext cx="14630" cy="14630"/>
          </a:xfrm>
          <a:prstGeom prst="ellipse">
            <a:avLst/>
          </a:prstGeom>
          <a:solidFill>
            <a:srgbClr val="5D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4864608" y="4882896"/>
            <a:ext cx="14630" cy="14630"/>
          </a:xfrm>
          <a:prstGeom prst="ellipse">
            <a:avLst/>
          </a:prstGeom>
          <a:solidFill>
            <a:srgbClr val="5D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5166360" y="960120"/>
            <a:ext cx="14630" cy="14630"/>
          </a:xfrm>
          <a:prstGeom prst="ellipse">
            <a:avLst/>
          </a:prstGeom>
          <a:solidFill>
            <a:srgbClr val="5D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5166360" y="1865376"/>
            <a:ext cx="14630" cy="14630"/>
          </a:xfrm>
          <a:prstGeom prst="ellipse">
            <a:avLst/>
          </a:prstGeom>
          <a:solidFill>
            <a:srgbClr val="5D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5166360" y="2770632"/>
            <a:ext cx="14630" cy="14630"/>
          </a:xfrm>
          <a:prstGeom prst="ellipse">
            <a:avLst/>
          </a:prstGeom>
          <a:solidFill>
            <a:srgbClr val="5D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5166360" y="3675888"/>
            <a:ext cx="14630" cy="14630"/>
          </a:xfrm>
          <a:prstGeom prst="ellipse">
            <a:avLst/>
          </a:prstGeom>
          <a:solidFill>
            <a:srgbClr val="5D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5166360" y="4581144"/>
            <a:ext cx="14630" cy="14630"/>
          </a:xfrm>
          <a:prstGeom prst="ellipse">
            <a:avLst/>
          </a:prstGeom>
          <a:solidFill>
            <a:srgbClr val="5D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5166360" y="5486400"/>
            <a:ext cx="14630" cy="14630"/>
          </a:xfrm>
          <a:prstGeom prst="ellipse">
            <a:avLst/>
          </a:prstGeom>
          <a:solidFill>
            <a:srgbClr val="5D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5468112" y="1563624"/>
            <a:ext cx="14630" cy="14630"/>
          </a:xfrm>
          <a:prstGeom prst="ellipse">
            <a:avLst/>
          </a:prstGeom>
          <a:solidFill>
            <a:srgbClr val="5D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5468112" y="2468880"/>
            <a:ext cx="14630" cy="14630"/>
          </a:xfrm>
          <a:prstGeom prst="ellipse">
            <a:avLst/>
          </a:prstGeom>
          <a:solidFill>
            <a:srgbClr val="5D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5468112" y="3374136"/>
            <a:ext cx="14630" cy="14630"/>
          </a:xfrm>
          <a:prstGeom prst="ellipse">
            <a:avLst/>
          </a:prstGeom>
          <a:solidFill>
            <a:srgbClr val="5D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5468112" y="4279392"/>
            <a:ext cx="14630" cy="14630"/>
          </a:xfrm>
          <a:prstGeom prst="ellipse">
            <a:avLst/>
          </a:prstGeom>
          <a:solidFill>
            <a:srgbClr val="5D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5468112" y="5184648"/>
            <a:ext cx="14630" cy="14630"/>
          </a:xfrm>
          <a:prstGeom prst="ellipse">
            <a:avLst/>
          </a:prstGeom>
          <a:solidFill>
            <a:srgbClr val="5D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5769864" y="1261872"/>
            <a:ext cx="14630" cy="14630"/>
          </a:xfrm>
          <a:prstGeom prst="ellipse">
            <a:avLst/>
          </a:prstGeom>
          <a:solidFill>
            <a:srgbClr val="5D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5769864" y="2167128"/>
            <a:ext cx="14630" cy="14630"/>
          </a:xfrm>
          <a:prstGeom prst="ellipse">
            <a:avLst/>
          </a:prstGeom>
          <a:solidFill>
            <a:srgbClr val="5D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5769864" y="3072384"/>
            <a:ext cx="14630" cy="14630"/>
          </a:xfrm>
          <a:prstGeom prst="ellipse">
            <a:avLst/>
          </a:prstGeom>
          <a:solidFill>
            <a:srgbClr val="5D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5769864" y="3977640"/>
            <a:ext cx="14630" cy="14630"/>
          </a:xfrm>
          <a:prstGeom prst="ellipse">
            <a:avLst/>
          </a:prstGeom>
          <a:solidFill>
            <a:srgbClr val="5D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5769864" y="4882896"/>
            <a:ext cx="14630" cy="14630"/>
          </a:xfrm>
          <a:prstGeom prst="ellipse">
            <a:avLst/>
          </a:prstGeom>
          <a:solidFill>
            <a:srgbClr val="5D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6071616" y="960120"/>
            <a:ext cx="14630" cy="14630"/>
          </a:xfrm>
          <a:prstGeom prst="ellipse">
            <a:avLst/>
          </a:prstGeom>
          <a:solidFill>
            <a:srgbClr val="5D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6071616" y="1865376"/>
            <a:ext cx="14630" cy="14630"/>
          </a:xfrm>
          <a:prstGeom prst="ellipse">
            <a:avLst/>
          </a:prstGeom>
          <a:solidFill>
            <a:srgbClr val="5D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6071616" y="2770632"/>
            <a:ext cx="14630" cy="14630"/>
          </a:xfrm>
          <a:prstGeom prst="ellipse">
            <a:avLst/>
          </a:prstGeom>
          <a:solidFill>
            <a:srgbClr val="5D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6071616" y="3675888"/>
            <a:ext cx="14630" cy="14630"/>
          </a:xfrm>
          <a:prstGeom prst="ellipse">
            <a:avLst/>
          </a:prstGeom>
          <a:solidFill>
            <a:srgbClr val="5D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6071616" y="4581144"/>
            <a:ext cx="14630" cy="14630"/>
          </a:xfrm>
          <a:prstGeom prst="ellipse">
            <a:avLst/>
          </a:prstGeom>
          <a:solidFill>
            <a:srgbClr val="5D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6071616" y="5486400"/>
            <a:ext cx="14630" cy="14630"/>
          </a:xfrm>
          <a:prstGeom prst="ellipse">
            <a:avLst/>
          </a:prstGeom>
          <a:solidFill>
            <a:srgbClr val="5D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6373368" y="1563624"/>
            <a:ext cx="14630" cy="14630"/>
          </a:xfrm>
          <a:prstGeom prst="ellipse">
            <a:avLst/>
          </a:prstGeom>
          <a:solidFill>
            <a:srgbClr val="5D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6373368" y="2468880"/>
            <a:ext cx="14630" cy="14630"/>
          </a:xfrm>
          <a:prstGeom prst="ellipse">
            <a:avLst/>
          </a:prstGeom>
          <a:solidFill>
            <a:srgbClr val="5D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6373368" y="3374136"/>
            <a:ext cx="14630" cy="14630"/>
          </a:xfrm>
          <a:prstGeom prst="ellipse">
            <a:avLst/>
          </a:prstGeom>
          <a:solidFill>
            <a:srgbClr val="5D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6373368" y="4279392"/>
            <a:ext cx="14630" cy="14630"/>
          </a:xfrm>
          <a:prstGeom prst="ellipse">
            <a:avLst/>
          </a:prstGeom>
          <a:solidFill>
            <a:srgbClr val="5D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6373368" y="5184648"/>
            <a:ext cx="14630" cy="14630"/>
          </a:xfrm>
          <a:prstGeom prst="ellipse">
            <a:avLst/>
          </a:prstGeom>
          <a:solidFill>
            <a:srgbClr val="5D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6675120" y="1261872"/>
            <a:ext cx="14630" cy="14630"/>
          </a:xfrm>
          <a:prstGeom prst="ellipse">
            <a:avLst/>
          </a:prstGeom>
          <a:solidFill>
            <a:srgbClr val="5D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6675120" y="2167128"/>
            <a:ext cx="14630" cy="14630"/>
          </a:xfrm>
          <a:prstGeom prst="ellipse">
            <a:avLst/>
          </a:prstGeom>
          <a:solidFill>
            <a:srgbClr val="5D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6675120" y="3072384"/>
            <a:ext cx="14630" cy="14630"/>
          </a:xfrm>
          <a:prstGeom prst="ellipse">
            <a:avLst/>
          </a:prstGeom>
          <a:solidFill>
            <a:srgbClr val="5D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6675120" y="3977640"/>
            <a:ext cx="14630" cy="14630"/>
          </a:xfrm>
          <a:prstGeom prst="ellipse">
            <a:avLst/>
          </a:prstGeom>
          <a:solidFill>
            <a:srgbClr val="5D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6675120" y="4882896"/>
            <a:ext cx="14630" cy="14630"/>
          </a:xfrm>
          <a:prstGeom prst="ellipse">
            <a:avLst/>
          </a:prstGeom>
          <a:solidFill>
            <a:srgbClr val="5D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6976872" y="960120"/>
            <a:ext cx="14630" cy="14630"/>
          </a:xfrm>
          <a:prstGeom prst="ellipse">
            <a:avLst/>
          </a:prstGeom>
          <a:solidFill>
            <a:srgbClr val="5D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6976872" y="1865376"/>
            <a:ext cx="14630" cy="14630"/>
          </a:xfrm>
          <a:prstGeom prst="ellipse">
            <a:avLst/>
          </a:prstGeom>
          <a:solidFill>
            <a:srgbClr val="5D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6976872" y="2770632"/>
            <a:ext cx="14630" cy="14630"/>
          </a:xfrm>
          <a:prstGeom prst="ellipse">
            <a:avLst/>
          </a:prstGeom>
          <a:solidFill>
            <a:srgbClr val="5D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Oval 119"/>
          <p:cNvSpPr/>
          <p:nvPr/>
        </p:nvSpPr>
        <p:spPr>
          <a:xfrm>
            <a:off x="6976872" y="3675888"/>
            <a:ext cx="14630" cy="14630"/>
          </a:xfrm>
          <a:prstGeom prst="ellipse">
            <a:avLst/>
          </a:prstGeom>
          <a:solidFill>
            <a:srgbClr val="5D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6976872" y="4581144"/>
            <a:ext cx="14630" cy="14630"/>
          </a:xfrm>
          <a:prstGeom prst="ellipse">
            <a:avLst/>
          </a:prstGeom>
          <a:solidFill>
            <a:srgbClr val="5D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Oval 121"/>
          <p:cNvSpPr/>
          <p:nvPr/>
        </p:nvSpPr>
        <p:spPr>
          <a:xfrm>
            <a:off x="6976872" y="5486400"/>
            <a:ext cx="14630" cy="14630"/>
          </a:xfrm>
          <a:prstGeom prst="ellipse">
            <a:avLst/>
          </a:prstGeom>
          <a:solidFill>
            <a:srgbClr val="5D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Oval 122"/>
          <p:cNvSpPr/>
          <p:nvPr/>
        </p:nvSpPr>
        <p:spPr>
          <a:xfrm>
            <a:off x="7278624" y="1563624"/>
            <a:ext cx="14630" cy="14630"/>
          </a:xfrm>
          <a:prstGeom prst="ellipse">
            <a:avLst/>
          </a:prstGeom>
          <a:solidFill>
            <a:srgbClr val="5D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Oval 123"/>
          <p:cNvSpPr/>
          <p:nvPr/>
        </p:nvSpPr>
        <p:spPr>
          <a:xfrm>
            <a:off x="7278624" y="2468880"/>
            <a:ext cx="14630" cy="14630"/>
          </a:xfrm>
          <a:prstGeom prst="ellipse">
            <a:avLst/>
          </a:prstGeom>
          <a:solidFill>
            <a:srgbClr val="5D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Oval 124"/>
          <p:cNvSpPr/>
          <p:nvPr/>
        </p:nvSpPr>
        <p:spPr>
          <a:xfrm>
            <a:off x="7278624" y="3374136"/>
            <a:ext cx="14630" cy="14630"/>
          </a:xfrm>
          <a:prstGeom prst="ellipse">
            <a:avLst/>
          </a:prstGeom>
          <a:solidFill>
            <a:srgbClr val="5D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Oval 125"/>
          <p:cNvSpPr/>
          <p:nvPr/>
        </p:nvSpPr>
        <p:spPr>
          <a:xfrm>
            <a:off x="7278624" y="4279392"/>
            <a:ext cx="14630" cy="14630"/>
          </a:xfrm>
          <a:prstGeom prst="ellipse">
            <a:avLst/>
          </a:prstGeom>
          <a:solidFill>
            <a:srgbClr val="5D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Oval 126"/>
          <p:cNvSpPr/>
          <p:nvPr/>
        </p:nvSpPr>
        <p:spPr>
          <a:xfrm>
            <a:off x="7278624" y="5184648"/>
            <a:ext cx="14630" cy="14630"/>
          </a:xfrm>
          <a:prstGeom prst="ellipse">
            <a:avLst/>
          </a:prstGeom>
          <a:solidFill>
            <a:srgbClr val="5D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Oval 127"/>
          <p:cNvSpPr/>
          <p:nvPr/>
        </p:nvSpPr>
        <p:spPr>
          <a:xfrm>
            <a:off x="7580376" y="1261872"/>
            <a:ext cx="14630" cy="14630"/>
          </a:xfrm>
          <a:prstGeom prst="ellipse">
            <a:avLst/>
          </a:prstGeom>
          <a:solidFill>
            <a:srgbClr val="5D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Oval 128"/>
          <p:cNvSpPr/>
          <p:nvPr/>
        </p:nvSpPr>
        <p:spPr>
          <a:xfrm>
            <a:off x="7580376" y="2167128"/>
            <a:ext cx="14630" cy="14630"/>
          </a:xfrm>
          <a:prstGeom prst="ellipse">
            <a:avLst/>
          </a:prstGeom>
          <a:solidFill>
            <a:srgbClr val="5D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Oval 129"/>
          <p:cNvSpPr/>
          <p:nvPr/>
        </p:nvSpPr>
        <p:spPr>
          <a:xfrm>
            <a:off x="7580376" y="3072384"/>
            <a:ext cx="14630" cy="14630"/>
          </a:xfrm>
          <a:prstGeom prst="ellipse">
            <a:avLst/>
          </a:prstGeom>
          <a:solidFill>
            <a:srgbClr val="5D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Oval 130"/>
          <p:cNvSpPr/>
          <p:nvPr/>
        </p:nvSpPr>
        <p:spPr>
          <a:xfrm>
            <a:off x="7580376" y="3977640"/>
            <a:ext cx="14630" cy="14630"/>
          </a:xfrm>
          <a:prstGeom prst="ellipse">
            <a:avLst/>
          </a:prstGeom>
          <a:solidFill>
            <a:srgbClr val="5D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Oval 131"/>
          <p:cNvSpPr/>
          <p:nvPr/>
        </p:nvSpPr>
        <p:spPr>
          <a:xfrm>
            <a:off x="7580376" y="4882896"/>
            <a:ext cx="14630" cy="14630"/>
          </a:xfrm>
          <a:prstGeom prst="ellipse">
            <a:avLst/>
          </a:prstGeom>
          <a:solidFill>
            <a:srgbClr val="5D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Oval 132"/>
          <p:cNvSpPr/>
          <p:nvPr/>
        </p:nvSpPr>
        <p:spPr>
          <a:xfrm>
            <a:off x="7882127" y="960120"/>
            <a:ext cx="14630" cy="14630"/>
          </a:xfrm>
          <a:prstGeom prst="ellipse">
            <a:avLst/>
          </a:prstGeom>
          <a:solidFill>
            <a:srgbClr val="5D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Oval 133"/>
          <p:cNvSpPr/>
          <p:nvPr/>
        </p:nvSpPr>
        <p:spPr>
          <a:xfrm>
            <a:off x="7882127" y="1865376"/>
            <a:ext cx="14630" cy="14630"/>
          </a:xfrm>
          <a:prstGeom prst="ellipse">
            <a:avLst/>
          </a:prstGeom>
          <a:solidFill>
            <a:srgbClr val="5D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Oval 134"/>
          <p:cNvSpPr/>
          <p:nvPr/>
        </p:nvSpPr>
        <p:spPr>
          <a:xfrm>
            <a:off x="7882127" y="2770632"/>
            <a:ext cx="14630" cy="14630"/>
          </a:xfrm>
          <a:prstGeom prst="ellipse">
            <a:avLst/>
          </a:prstGeom>
          <a:solidFill>
            <a:srgbClr val="5D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Oval 135"/>
          <p:cNvSpPr/>
          <p:nvPr/>
        </p:nvSpPr>
        <p:spPr>
          <a:xfrm>
            <a:off x="7882127" y="3675888"/>
            <a:ext cx="14630" cy="14630"/>
          </a:xfrm>
          <a:prstGeom prst="ellipse">
            <a:avLst/>
          </a:prstGeom>
          <a:solidFill>
            <a:srgbClr val="5D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Oval 136"/>
          <p:cNvSpPr/>
          <p:nvPr/>
        </p:nvSpPr>
        <p:spPr>
          <a:xfrm>
            <a:off x="7882127" y="4581144"/>
            <a:ext cx="14630" cy="14630"/>
          </a:xfrm>
          <a:prstGeom prst="ellipse">
            <a:avLst/>
          </a:prstGeom>
          <a:solidFill>
            <a:srgbClr val="5D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Oval 137"/>
          <p:cNvSpPr/>
          <p:nvPr/>
        </p:nvSpPr>
        <p:spPr>
          <a:xfrm>
            <a:off x="7882127" y="5486400"/>
            <a:ext cx="14630" cy="14630"/>
          </a:xfrm>
          <a:prstGeom prst="ellipse">
            <a:avLst/>
          </a:prstGeom>
          <a:solidFill>
            <a:srgbClr val="5D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Oval 138"/>
          <p:cNvSpPr/>
          <p:nvPr/>
        </p:nvSpPr>
        <p:spPr>
          <a:xfrm>
            <a:off x="8183879" y="1563624"/>
            <a:ext cx="14630" cy="14630"/>
          </a:xfrm>
          <a:prstGeom prst="ellipse">
            <a:avLst/>
          </a:prstGeom>
          <a:solidFill>
            <a:srgbClr val="5D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Oval 139"/>
          <p:cNvSpPr/>
          <p:nvPr/>
        </p:nvSpPr>
        <p:spPr>
          <a:xfrm>
            <a:off x="8183879" y="2468880"/>
            <a:ext cx="14630" cy="14630"/>
          </a:xfrm>
          <a:prstGeom prst="ellipse">
            <a:avLst/>
          </a:prstGeom>
          <a:solidFill>
            <a:srgbClr val="5D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Oval 140"/>
          <p:cNvSpPr/>
          <p:nvPr/>
        </p:nvSpPr>
        <p:spPr>
          <a:xfrm>
            <a:off x="8183879" y="3374136"/>
            <a:ext cx="14630" cy="14630"/>
          </a:xfrm>
          <a:prstGeom prst="ellipse">
            <a:avLst/>
          </a:prstGeom>
          <a:solidFill>
            <a:srgbClr val="5D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Oval 141"/>
          <p:cNvSpPr/>
          <p:nvPr/>
        </p:nvSpPr>
        <p:spPr>
          <a:xfrm>
            <a:off x="8183879" y="4279392"/>
            <a:ext cx="14630" cy="14630"/>
          </a:xfrm>
          <a:prstGeom prst="ellipse">
            <a:avLst/>
          </a:prstGeom>
          <a:solidFill>
            <a:srgbClr val="5D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Oval 142"/>
          <p:cNvSpPr/>
          <p:nvPr/>
        </p:nvSpPr>
        <p:spPr>
          <a:xfrm>
            <a:off x="8183879" y="5184648"/>
            <a:ext cx="14630" cy="14630"/>
          </a:xfrm>
          <a:prstGeom prst="ellipse">
            <a:avLst/>
          </a:prstGeom>
          <a:solidFill>
            <a:srgbClr val="5D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Oval 143"/>
          <p:cNvSpPr/>
          <p:nvPr/>
        </p:nvSpPr>
        <p:spPr>
          <a:xfrm>
            <a:off x="8485632" y="1261872"/>
            <a:ext cx="14630" cy="14630"/>
          </a:xfrm>
          <a:prstGeom prst="ellipse">
            <a:avLst/>
          </a:prstGeom>
          <a:solidFill>
            <a:srgbClr val="5D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Oval 144"/>
          <p:cNvSpPr/>
          <p:nvPr/>
        </p:nvSpPr>
        <p:spPr>
          <a:xfrm>
            <a:off x="8485632" y="2167128"/>
            <a:ext cx="14630" cy="14630"/>
          </a:xfrm>
          <a:prstGeom prst="ellipse">
            <a:avLst/>
          </a:prstGeom>
          <a:solidFill>
            <a:srgbClr val="5D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Oval 145"/>
          <p:cNvSpPr/>
          <p:nvPr/>
        </p:nvSpPr>
        <p:spPr>
          <a:xfrm>
            <a:off x="8485632" y="3072384"/>
            <a:ext cx="14630" cy="14630"/>
          </a:xfrm>
          <a:prstGeom prst="ellipse">
            <a:avLst/>
          </a:prstGeom>
          <a:solidFill>
            <a:srgbClr val="5D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Oval 146"/>
          <p:cNvSpPr/>
          <p:nvPr/>
        </p:nvSpPr>
        <p:spPr>
          <a:xfrm>
            <a:off x="8485632" y="3977640"/>
            <a:ext cx="14630" cy="14630"/>
          </a:xfrm>
          <a:prstGeom prst="ellipse">
            <a:avLst/>
          </a:prstGeom>
          <a:solidFill>
            <a:srgbClr val="5D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Oval 147"/>
          <p:cNvSpPr/>
          <p:nvPr/>
        </p:nvSpPr>
        <p:spPr>
          <a:xfrm>
            <a:off x="8485632" y="4882896"/>
            <a:ext cx="14630" cy="14630"/>
          </a:xfrm>
          <a:prstGeom prst="ellipse">
            <a:avLst/>
          </a:prstGeom>
          <a:solidFill>
            <a:srgbClr val="5D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Oval 148"/>
          <p:cNvSpPr/>
          <p:nvPr/>
        </p:nvSpPr>
        <p:spPr>
          <a:xfrm>
            <a:off x="8787384" y="960120"/>
            <a:ext cx="14630" cy="14630"/>
          </a:xfrm>
          <a:prstGeom prst="ellipse">
            <a:avLst/>
          </a:prstGeom>
          <a:solidFill>
            <a:srgbClr val="5D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Oval 149"/>
          <p:cNvSpPr/>
          <p:nvPr/>
        </p:nvSpPr>
        <p:spPr>
          <a:xfrm>
            <a:off x="8787384" y="1865376"/>
            <a:ext cx="14630" cy="14630"/>
          </a:xfrm>
          <a:prstGeom prst="ellipse">
            <a:avLst/>
          </a:prstGeom>
          <a:solidFill>
            <a:srgbClr val="5D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Oval 150"/>
          <p:cNvSpPr/>
          <p:nvPr/>
        </p:nvSpPr>
        <p:spPr>
          <a:xfrm>
            <a:off x="8787384" y="2770632"/>
            <a:ext cx="14630" cy="14630"/>
          </a:xfrm>
          <a:prstGeom prst="ellipse">
            <a:avLst/>
          </a:prstGeom>
          <a:solidFill>
            <a:srgbClr val="5D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Oval 151"/>
          <p:cNvSpPr/>
          <p:nvPr/>
        </p:nvSpPr>
        <p:spPr>
          <a:xfrm>
            <a:off x="8787384" y="3675888"/>
            <a:ext cx="14630" cy="14630"/>
          </a:xfrm>
          <a:prstGeom prst="ellipse">
            <a:avLst/>
          </a:prstGeom>
          <a:solidFill>
            <a:srgbClr val="5D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Oval 152"/>
          <p:cNvSpPr/>
          <p:nvPr/>
        </p:nvSpPr>
        <p:spPr>
          <a:xfrm>
            <a:off x="8787384" y="4581144"/>
            <a:ext cx="14630" cy="14630"/>
          </a:xfrm>
          <a:prstGeom prst="ellipse">
            <a:avLst/>
          </a:prstGeom>
          <a:solidFill>
            <a:srgbClr val="5D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Oval 153"/>
          <p:cNvSpPr/>
          <p:nvPr/>
        </p:nvSpPr>
        <p:spPr>
          <a:xfrm>
            <a:off x="8787384" y="5486400"/>
            <a:ext cx="14630" cy="14630"/>
          </a:xfrm>
          <a:prstGeom prst="ellipse">
            <a:avLst/>
          </a:prstGeom>
          <a:solidFill>
            <a:srgbClr val="5D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Oval 154"/>
          <p:cNvSpPr/>
          <p:nvPr/>
        </p:nvSpPr>
        <p:spPr>
          <a:xfrm>
            <a:off x="9089136" y="1563624"/>
            <a:ext cx="14630" cy="14630"/>
          </a:xfrm>
          <a:prstGeom prst="ellipse">
            <a:avLst/>
          </a:prstGeom>
          <a:solidFill>
            <a:srgbClr val="5D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Oval 155"/>
          <p:cNvSpPr/>
          <p:nvPr/>
        </p:nvSpPr>
        <p:spPr>
          <a:xfrm>
            <a:off x="9089136" y="2468880"/>
            <a:ext cx="14630" cy="14630"/>
          </a:xfrm>
          <a:prstGeom prst="ellipse">
            <a:avLst/>
          </a:prstGeom>
          <a:solidFill>
            <a:srgbClr val="5D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Oval 156"/>
          <p:cNvSpPr/>
          <p:nvPr/>
        </p:nvSpPr>
        <p:spPr>
          <a:xfrm>
            <a:off x="9089136" y="3374136"/>
            <a:ext cx="14630" cy="14630"/>
          </a:xfrm>
          <a:prstGeom prst="ellipse">
            <a:avLst/>
          </a:prstGeom>
          <a:solidFill>
            <a:srgbClr val="5D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Oval 157"/>
          <p:cNvSpPr/>
          <p:nvPr/>
        </p:nvSpPr>
        <p:spPr>
          <a:xfrm>
            <a:off x="9089136" y="4279392"/>
            <a:ext cx="14630" cy="14630"/>
          </a:xfrm>
          <a:prstGeom prst="ellipse">
            <a:avLst/>
          </a:prstGeom>
          <a:solidFill>
            <a:srgbClr val="5D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Oval 158"/>
          <p:cNvSpPr/>
          <p:nvPr/>
        </p:nvSpPr>
        <p:spPr>
          <a:xfrm>
            <a:off x="9089136" y="5184648"/>
            <a:ext cx="14630" cy="14630"/>
          </a:xfrm>
          <a:prstGeom prst="ellipse">
            <a:avLst/>
          </a:prstGeom>
          <a:solidFill>
            <a:srgbClr val="5D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Oval 159"/>
          <p:cNvSpPr/>
          <p:nvPr/>
        </p:nvSpPr>
        <p:spPr>
          <a:xfrm>
            <a:off x="9390888" y="1261872"/>
            <a:ext cx="14630" cy="14630"/>
          </a:xfrm>
          <a:prstGeom prst="ellipse">
            <a:avLst/>
          </a:prstGeom>
          <a:solidFill>
            <a:srgbClr val="5D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Oval 160"/>
          <p:cNvSpPr/>
          <p:nvPr/>
        </p:nvSpPr>
        <p:spPr>
          <a:xfrm>
            <a:off x="9390888" y="2167128"/>
            <a:ext cx="14630" cy="14630"/>
          </a:xfrm>
          <a:prstGeom prst="ellipse">
            <a:avLst/>
          </a:prstGeom>
          <a:solidFill>
            <a:srgbClr val="5D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Oval 161"/>
          <p:cNvSpPr/>
          <p:nvPr/>
        </p:nvSpPr>
        <p:spPr>
          <a:xfrm>
            <a:off x="9390888" y="3072384"/>
            <a:ext cx="14630" cy="14630"/>
          </a:xfrm>
          <a:prstGeom prst="ellipse">
            <a:avLst/>
          </a:prstGeom>
          <a:solidFill>
            <a:srgbClr val="5D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Oval 162"/>
          <p:cNvSpPr/>
          <p:nvPr/>
        </p:nvSpPr>
        <p:spPr>
          <a:xfrm>
            <a:off x="9390888" y="3977640"/>
            <a:ext cx="14630" cy="14630"/>
          </a:xfrm>
          <a:prstGeom prst="ellipse">
            <a:avLst/>
          </a:prstGeom>
          <a:solidFill>
            <a:srgbClr val="5D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Oval 163"/>
          <p:cNvSpPr/>
          <p:nvPr/>
        </p:nvSpPr>
        <p:spPr>
          <a:xfrm>
            <a:off x="9390888" y="4882896"/>
            <a:ext cx="14630" cy="14630"/>
          </a:xfrm>
          <a:prstGeom prst="ellipse">
            <a:avLst/>
          </a:prstGeom>
          <a:solidFill>
            <a:srgbClr val="5D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Oval 164"/>
          <p:cNvSpPr/>
          <p:nvPr/>
        </p:nvSpPr>
        <p:spPr>
          <a:xfrm>
            <a:off x="9692640" y="960120"/>
            <a:ext cx="14630" cy="14630"/>
          </a:xfrm>
          <a:prstGeom prst="ellipse">
            <a:avLst/>
          </a:prstGeom>
          <a:solidFill>
            <a:srgbClr val="5D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Oval 165"/>
          <p:cNvSpPr/>
          <p:nvPr/>
        </p:nvSpPr>
        <p:spPr>
          <a:xfrm>
            <a:off x="9692640" y="1865376"/>
            <a:ext cx="14630" cy="14630"/>
          </a:xfrm>
          <a:prstGeom prst="ellipse">
            <a:avLst/>
          </a:prstGeom>
          <a:solidFill>
            <a:srgbClr val="5D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Oval 166"/>
          <p:cNvSpPr/>
          <p:nvPr/>
        </p:nvSpPr>
        <p:spPr>
          <a:xfrm>
            <a:off x="9692640" y="2770632"/>
            <a:ext cx="14630" cy="14630"/>
          </a:xfrm>
          <a:prstGeom prst="ellipse">
            <a:avLst/>
          </a:prstGeom>
          <a:solidFill>
            <a:srgbClr val="5D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Oval 167"/>
          <p:cNvSpPr/>
          <p:nvPr/>
        </p:nvSpPr>
        <p:spPr>
          <a:xfrm>
            <a:off x="9692640" y="3675888"/>
            <a:ext cx="14630" cy="14630"/>
          </a:xfrm>
          <a:prstGeom prst="ellipse">
            <a:avLst/>
          </a:prstGeom>
          <a:solidFill>
            <a:srgbClr val="5D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Oval 168"/>
          <p:cNvSpPr/>
          <p:nvPr/>
        </p:nvSpPr>
        <p:spPr>
          <a:xfrm>
            <a:off x="9692640" y="4581144"/>
            <a:ext cx="14630" cy="14630"/>
          </a:xfrm>
          <a:prstGeom prst="ellipse">
            <a:avLst/>
          </a:prstGeom>
          <a:solidFill>
            <a:srgbClr val="5D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Oval 169"/>
          <p:cNvSpPr/>
          <p:nvPr/>
        </p:nvSpPr>
        <p:spPr>
          <a:xfrm>
            <a:off x="9692640" y="5486400"/>
            <a:ext cx="14630" cy="14630"/>
          </a:xfrm>
          <a:prstGeom prst="ellipse">
            <a:avLst/>
          </a:prstGeom>
          <a:solidFill>
            <a:srgbClr val="5D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Oval 170"/>
          <p:cNvSpPr/>
          <p:nvPr/>
        </p:nvSpPr>
        <p:spPr>
          <a:xfrm>
            <a:off x="9994392" y="1563624"/>
            <a:ext cx="14630" cy="14630"/>
          </a:xfrm>
          <a:prstGeom prst="ellipse">
            <a:avLst/>
          </a:prstGeom>
          <a:solidFill>
            <a:srgbClr val="5D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Oval 171"/>
          <p:cNvSpPr/>
          <p:nvPr/>
        </p:nvSpPr>
        <p:spPr>
          <a:xfrm>
            <a:off x="9994392" y="2468880"/>
            <a:ext cx="14630" cy="14630"/>
          </a:xfrm>
          <a:prstGeom prst="ellipse">
            <a:avLst/>
          </a:prstGeom>
          <a:solidFill>
            <a:srgbClr val="5D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Oval 172"/>
          <p:cNvSpPr/>
          <p:nvPr/>
        </p:nvSpPr>
        <p:spPr>
          <a:xfrm>
            <a:off x="9994392" y="3374136"/>
            <a:ext cx="14630" cy="14630"/>
          </a:xfrm>
          <a:prstGeom prst="ellipse">
            <a:avLst/>
          </a:prstGeom>
          <a:solidFill>
            <a:srgbClr val="5D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Oval 173"/>
          <p:cNvSpPr/>
          <p:nvPr/>
        </p:nvSpPr>
        <p:spPr>
          <a:xfrm>
            <a:off x="9994392" y="4279392"/>
            <a:ext cx="14630" cy="14630"/>
          </a:xfrm>
          <a:prstGeom prst="ellipse">
            <a:avLst/>
          </a:prstGeom>
          <a:solidFill>
            <a:srgbClr val="5D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Oval 174"/>
          <p:cNvSpPr/>
          <p:nvPr/>
        </p:nvSpPr>
        <p:spPr>
          <a:xfrm>
            <a:off x="9994392" y="5184648"/>
            <a:ext cx="14630" cy="14630"/>
          </a:xfrm>
          <a:prstGeom prst="ellipse">
            <a:avLst/>
          </a:prstGeom>
          <a:solidFill>
            <a:srgbClr val="5D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Oval 175"/>
          <p:cNvSpPr/>
          <p:nvPr/>
        </p:nvSpPr>
        <p:spPr>
          <a:xfrm>
            <a:off x="10296144" y="1261872"/>
            <a:ext cx="14630" cy="14630"/>
          </a:xfrm>
          <a:prstGeom prst="ellipse">
            <a:avLst/>
          </a:prstGeom>
          <a:solidFill>
            <a:srgbClr val="5D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Oval 176"/>
          <p:cNvSpPr/>
          <p:nvPr/>
        </p:nvSpPr>
        <p:spPr>
          <a:xfrm>
            <a:off x="10296144" y="2167128"/>
            <a:ext cx="14630" cy="14630"/>
          </a:xfrm>
          <a:prstGeom prst="ellipse">
            <a:avLst/>
          </a:prstGeom>
          <a:solidFill>
            <a:srgbClr val="5D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Oval 177"/>
          <p:cNvSpPr/>
          <p:nvPr/>
        </p:nvSpPr>
        <p:spPr>
          <a:xfrm>
            <a:off x="10296144" y="3072384"/>
            <a:ext cx="14630" cy="14630"/>
          </a:xfrm>
          <a:prstGeom prst="ellipse">
            <a:avLst/>
          </a:prstGeom>
          <a:solidFill>
            <a:srgbClr val="5D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Oval 178"/>
          <p:cNvSpPr/>
          <p:nvPr/>
        </p:nvSpPr>
        <p:spPr>
          <a:xfrm>
            <a:off x="10296144" y="3977640"/>
            <a:ext cx="14630" cy="14630"/>
          </a:xfrm>
          <a:prstGeom prst="ellipse">
            <a:avLst/>
          </a:prstGeom>
          <a:solidFill>
            <a:srgbClr val="5D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Oval 179"/>
          <p:cNvSpPr/>
          <p:nvPr/>
        </p:nvSpPr>
        <p:spPr>
          <a:xfrm>
            <a:off x="10296144" y="4882896"/>
            <a:ext cx="14630" cy="14630"/>
          </a:xfrm>
          <a:prstGeom prst="ellipse">
            <a:avLst/>
          </a:prstGeom>
          <a:solidFill>
            <a:srgbClr val="5D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Oval 180"/>
          <p:cNvSpPr/>
          <p:nvPr/>
        </p:nvSpPr>
        <p:spPr>
          <a:xfrm>
            <a:off x="10597896" y="960120"/>
            <a:ext cx="14630" cy="14630"/>
          </a:xfrm>
          <a:prstGeom prst="ellipse">
            <a:avLst/>
          </a:prstGeom>
          <a:solidFill>
            <a:srgbClr val="5D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Oval 181"/>
          <p:cNvSpPr/>
          <p:nvPr/>
        </p:nvSpPr>
        <p:spPr>
          <a:xfrm>
            <a:off x="10597896" y="1865376"/>
            <a:ext cx="14630" cy="14630"/>
          </a:xfrm>
          <a:prstGeom prst="ellipse">
            <a:avLst/>
          </a:prstGeom>
          <a:solidFill>
            <a:srgbClr val="5D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Oval 182"/>
          <p:cNvSpPr/>
          <p:nvPr/>
        </p:nvSpPr>
        <p:spPr>
          <a:xfrm>
            <a:off x="10597896" y="2770632"/>
            <a:ext cx="14630" cy="14630"/>
          </a:xfrm>
          <a:prstGeom prst="ellipse">
            <a:avLst/>
          </a:prstGeom>
          <a:solidFill>
            <a:srgbClr val="5D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Oval 183"/>
          <p:cNvSpPr/>
          <p:nvPr/>
        </p:nvSpPr>
        <p:spPr>
          <a:xfrm>
            <a:off x="10597896" y="3675888"/>
            <a:ext cx="14630" cy="14630"/>
          </a:xfrm>
          <a:prstGeom prst="ellipse">
            <a:avLst/>
          </a:prstGeom>
          <a:solidFill>
            <a:srgbClr val="5D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Oval 184"/>
          <p:cNvSpPr/>
          <p:nvPr/>
        </p:nvSpPr>
        <p:spPr>
          <a:xfrm>
            <a:off x="10597896" y="4581144"/>
            <a:ext cx="14630" cy="14630"/>
          </a:xfrm>
          <a:prstGeom prst="ellipse">
            <a:avLst/>
          </a:prstGeom>
          <a:solidFill>
            <a:srgbClr val="5D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Oval 185"/>
          <p:cNvSpPr/>
          <p:nvPr/>
        </p:nvSpPr>
        <p:spPr>
          <a:xfrm>
            <a:off x="10597896" y="5486400"/>
            <a:ext cx="14630" cy="14630"/>
          </a:xfrm>
          <a:prstGeom prst="ellipse">
            <a:avLst/>
          </a:prstGeom>
          <a:solidFill>
            <a:srgbClr val="5D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anim_001"/>
          <p:cNvSpPr txBox="1"/>
          <p:nvPr/>
        </p:nvSpPr>
        <p:spPr>
          <a:xfrm>
            <a:off x="658368" y="1005840"/>
            <a:ext cx="6400800" cy="3383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78000"/>
              </a:lnSpc>
            </a:pPr>
            <a:r>
              <a:rPr sz="58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21天
健康
操作系统</a:t>
            </a:r>
            <a:endParaRPr sz="580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88" name="Connector 187"/>
          <p:cNvCxnSpPr/>
          <p:nvPr/>
        </p:nvCxnSpPr>
        <p:spPr>
          <a:xfrm>
            <a:off x="640080" y="5715000"/>
            <a:ext cx="10835640" cy="0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9" name="anim_002"/>
          <p:cNvSpPr txBox="1"/>
          <p:nvPr/>
        </p:nvSpPr>
        <p:spPr>
          <a:xfrm>
            <a:off x="658368" y="5897880"/>
            <a:ext cx="47548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9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杨医生 × 杨泽言 · 首批健康社群</a:t>
            </a:r>
            <a:endParaRPr sz="90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0" name="anim_003"/>
          <p:cNvSpPr txBox="1"/>
          <p:nvPr/>
        </p:nvSpPr>
        <p:spPr>
          <a:xfrm>
            <a:off x="8229600" y="5897880"/>
            <a:ext cx="3200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4000"/>
              </a:lnSpc>
            </a:pPr>
            <a:r>
              <a:rPr sz="900" b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SWISS SYSTEM DECK</a:t>
            </a:r>
            <a:endParaRPr sz="900" b="0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49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6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8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0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5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24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4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7" grpId="0"/>
      <p:bldP spid="189" grpId="0"/>
      <p:bldP spid="190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56692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750" b="0">
                <a:solidFill>
                  <a:srgbClr val="11111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02 / 21 · THE QUESTION</a:t>
            </a:r>
            <a:endParaRPr sz="750" b="0">
              <a:solidFill>
                <a:srgbClr val="11111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869680" y="292608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4000"/>
              </a:lnSpc>
            </a:pPr>
            <a:r>
              <a:rPr sz="750" b="0">
                <a:solidFill>
                  <a:srgbClr val="11111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WHY SO HARD</a:t>
            </a:r>
            <a:endParaRPr sz="750" b="0">
              <a:solidFill>
                <a:srgbClr val="11111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594360" y="612648"/>
            <a:ext cx="11000232" cy="0"/>
          </a:xfrm>
          <a:prstGeom prst="line">
            <a:avLst/>
          </a:prstGeom>
          <a:ln w="4445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anim_004"/>
          <p:cNvSpPr txBox="1"/>
          <p:nvPr/>
        </p:nvSpPr>
        <p:spPr>
          <a:xfrm>
            <a:off x="658368" y="1234440"/>
            <a:ext cx="6675120" cy="2560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86000"/>
              </a:lnSpc>
            </a:pPr>
            <a:r>
              <a:rPr sz="42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为什么
减重、运动、健康
这么难？</a:t>
            </a:r>
            <a:endParaRPr sz="420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7680960" y="1143000"/>
            <a:ext cx="0" cy="4480560"/>
          </a:xfrm>
          <a:prstGeom prst="line">
            <a:avLst/>
          </a:prstGeom>
          <a:ln w="7620">
            <a:solidFill>
              <a:srgbClr val="5A5A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anim_005"/>
          <p:cNvSpPr txBox="1"/>
          <p:nvPr/>
        </p:nvSpPr>
        <p:spPr>
          <a:xfrm>
            <a:off x="8001000" y="2011680"/>
            <a:ext cx="31089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20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因为你面对的从来不是一个动作。</a:t>
            </a:r>
            <a:endParaRPr sz="200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anim_006"/>
          <p:cNvSpPr txBox="1"/>
          <p:nvPr/>
        </p:nvSpPr>
        <p:spPr>
          <a:xfrm>
            <a:off x="8001000" y="2880360"/>
            <a:ext cx="30632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250" b="0">
                <a:solidFill>
                  <a:srgbClr val="CECEC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你面对的是身体惯性、生活环境、社交关系、信息输入和情绪状态一起形成的旧系统。</a:t>
            </a:r>
            <a:endParaRPr sz="1250" b="0">
              <a:solidFill>
                <a:srgbClr val="CECEC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49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6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8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0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24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4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56692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750" b="0">
                <a:solidFill>
                  <a:srgbClr val="11111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03 / 21 · THREE RESISTANCES</a:t>
            </a:r>
            <a:endParaRPr sz="750" b="0">
              <a:solidFill>
                <a:srgbClr val="11111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869680" y="292608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4000"/>
              </a:lnSpc>
            </a:pPr>
            <a:r>
              <a:rPr sz="750" b="0">
                <a:solidFill>
                  <a:srgbClr val="11111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NOT LAZINESS</a:t>
            </a:r>
            <a:endParaRPr sz="750" b="0">
              <a:solidFill>
                <a:srgbClr val="11111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594360" y="612648"/>
            <a:ext cx="11000232" cy="0"/>
          </a:xfrm>
          <a:prstGeom prst="line">
            <a:avLst/>
          </a:prstGeom>
          <a:ln w="4445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594360" y="914400"/>
            <a:ext cx="4572000" cy="5257800"/>
          </a:xfrm>
          <a:prstGeom prst="rect">
            <a:avLst/>
          </a:prstGeom>
          <a:solidFill>
            <a:srgbClr val="111111"/>
          </a:solidFill>
          <a:ln w="889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anim_007"/>
          <p:cNvSpPr txBox="1"/>
          <p:nvPr/>
        </p:nvSpPr>
        <p:spPr>
          <a:xfrm>
            <a:off x="868680" y="1325880"/>
            <a:ext cx="384048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4000"/>
              </a:lnSpc>
            </a:pPr>
            <a:r>
              <a:rPr sz="29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不是你太懒，
是旧系统太强。</a:t>
            </a:r>
            <a:endParaRPr sz="290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anim_008"/>
          <p:cNvSpPr txBox="1"/>
          <p:nvPr/>
        </p:nvSpPr>
        <p:spPr>
          <a:xfrm>
            <a:off x="896112" y="4892040"/>
            <a:ext cx="365760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3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靠一时热情开始，最后往往被三股力量拉回原点。</a:t>
            </a:r>
            <a:endParaRPr sz="130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anim_009"/>
          <p:cNvSpPr/>
          <p:nvPr/>
        </p:nvSpPr>
        <p:spPr>
          <a:xfrm>
            <a:off x="5577840" y="914400"/>
            <a:ext cx="5989320" cy="1417320"/>
          </a:xfrm>
          <a:prstGeom prst="rect">
            <a:avLst/>
          </a:prstGeom>
          <a:solidFill>
            <a:srgbClr val="F7F7F1"/>
          </a:solidFill>
          <a:ln w="1016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anim_010"/>
          <p:cNvSpPr txBox="1"/>
          <p:nvPr/>
        </p:nvSpPr>
        <p:spPr>
          <a:xfrm>
            <a:off x="5779007" y="1060704"/>
            <a:ext cx="7315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750" b="0">
                <a:solidFill>
                  <a:srgbClr val="0057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01</a:t>
            </a:r>
            <a:endParaRPr sz="750" b="0">
              <a:solidFill>
                <a:srgbClr val="0057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0" name="anim_011"/>
          <p:cNvSpPr txBox="1"/>
          <p:nvPr/>
        </p:nvSpPr>
        <p:spPr>
          <a:xfrm>
            <a:off x="5779007" y="1325880"/>
            <a:ext cx="5586983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6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身体会省力</a:t>
            </a:r>
            <a:endParaRPr sz="1600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anim_012"/>
          <p:cNvSpPr txBox="1"/>
          <p:nvPr/>
        </p:nvSpPr>
        <p:spPr>
          <a:xfrm>
            <a:off x="5779007" y="1737360"/>
            <a:ext cx="5586983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20" b="0">
                <a:solidFill>
                  <a:srgbClr val="4C4C4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身体天然倾向节能，运动的即时反馈又太慢。</a:t>
            </a:r>
            <a:endParaRPr sz="1020" b="0">
              <a:solidFill>
                <a:srgbClr val="4C4C4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anim_013"/>
          <p:cNvSpPr/>
          <p:nvPr/>
        </p:nvSpPr>
        <p:spPr>
          <a:xfrm>
            <a:off x="5577840" y="2651760"/>
            <a:ext cx="5989320" cy="1417320"/>
          </a:xfrm>
          <a:prstGeom prst="rect">
            <a:avLst/>
          </a:prstGeom>
          <a:solidFill>
            <a:srgbClr val="F7F7F1"/>
          </a:solidFill>
          <a:ln w="1016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anim_014"/>
          <p:cNvSpPr txBox="1"/>
          <p:nvPr/>
        </p:nvSpPr>
        <p:spPr>
          <a:xfrm>
            <a:off x="5779007" y="2798064"/>
            <a:ext cx="7315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750" b="0">
                <a:solidFill>
                  <a:srgbClr val="0057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02</a:t>
            </a:r>
            <a:endParaRPr sz="750" b="0">
              <a:solidFill>
                <a:srgbClr val="0057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4" name="anim_015"/>
          <p:cNvSpPr txBox="1"/>
          <p:nvPr/>
        </p:nvSpPr>
        <p:spPr>
          <a:xfrm>
            <a:off x="5779007" y="3063240"/>
            <a:ext cx="5586983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6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环境会诱导</a:t>
            </a:r>
            <a:endParaRPr sz="1600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anim_016"/>
          <p:cNvSpPr txBox="1"/>
          <p:nvPr/>
        </p:nvSpPr>
        <p:spPr>
          <a:xfrm>
            <a:off x="5779007" y="3474720"/>
            <a:ext cx="5586983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20" b="0">
                <a:solidFill>
                  <a:srgbClr val="4C4C4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外卖、久坐、熬夜、短视频，持续把你带回轻松选项。</a:t>
            </a:r>
            <a:endParaRPr sz="1020" b="0">
              <a:solidFill>
                <a:srgbClr val="4C4C4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anim_017"/>
          <p:cNvSpPr/>
          <p:nvPr/>
        </p:nvSpPr>
        <p:spPr>
          <a:xfrm>
            <a:off x="5577840" y="4389120"/>
            <a:ext cx="5989320" cy="1417320"/>
          </a:xfrm>
          <a:prstGeom prst="rect">
            <a:avLst/>
          </a:prstGeom>
          <a:solidFill>
            <a:srgbClr val="0057FF"/>
          </a:solidFill>
          <a:ln w="10160">
            <a:solidFill>
              <a:srgbClr val="005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anim_018"/>
          <p:cNvSpPr txBox="1"/>
          <p:nvPr/>
        </p:nvSpPr>
        <p:spPr>
          <a:xfrm>
            <a:off x="5779007" y="4535424"/>
            <a:ext cx="7315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750" b="0">
                <a:solidFill>
                  <a:srgbClr val="11111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03</a:t>
            </a:r>
            <a:endParaRPr sz="750" b="0">
              <a:solidFill>
                <a:srgbClr val="11111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8" name="anim_019"/>
          <p:cNvSpPr txBox="1"/>
          <p:nvPr/>
        </p:nvSpPr>
        <p:spPr>
          <a:xfrm>
            <a:off x="5779007" y="4800600"/>
            <a:ext cx="5586983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6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情绪会反扑</a:t>
            </a:r>
            <a:endParaRPr sz="1600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anim_020"/>
          <p:cNvSpPr txBox="1"/>
          <p:nvPr/>
        </p:nvSpPr>
        <p:spPr>
          <a:xfrm>
            <a:off x="5779007" y="5212080"/>
            <a:ext cx="5586983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20" b="0">
                <a:solidFill>
                  <a:srgbClr val="4C4C4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一次中断，很容易被理解成彻底失败。</a:t>
            </a:r>
            <a:endParaRPr sz="1020" b="0">
              <a:solidFill>
                <a:srgbClr val="4C4C4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49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6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8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0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24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4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98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18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8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2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7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26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68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0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74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34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688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38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810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42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940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46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078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50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2240"/>
                            </p:stCondLst>
                            <p:childTnLst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1040"/>
                                  </p:stCondLst>
                                  <p:childTnLst>
                                    <p:set>
                                      <p:cBhvr>
                                        <p:cTn id="54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3780"/>
                            </p:stCondLst>
                            <p:childTnLst>
                              <p:par>
                                <p:cTn id="57" presetID="10" presetClass="entr" presetSubtype="0" fill="hold" grpId="0" nodeType="after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58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 animBg="1"/>
      <p:bldP spid="9" grpId="0"/>
      <p:bldP spid="10" grpId="0"/>
      <p:bldP spid="11" grpId="0"/>
      <p:bldP spid="12" grpId="0" animBg="1"/>
      <p:bldP spid="13" grpId="0"/>
      <p:bldP spid="14" grpId="0"/>
      <p:bldP spid="15" grpId="0"/>
      <p:bldP spid="16" grpId="0" animBg="1"/>
      <p:bldP spid="17" grpId="0"/>
      <p:bldP spid="18" grpId="0"/>
      <p:bldP spid="1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56692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750" b="0">
                <a:solidFill>
                  <a:srgbClr val="11111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04 / 21 · BODY SIGNAL</a:t>
            </a:r>
            <a:endParaRPr sz="750" b="0">
              <a:solidFill>
                <a:srgbClr val="11111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869680" y="292608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4000"/>
              </a:lnSpc>
            </a:pPr>
            <a:r>
              <a:rPr sz="750" b="0">
                <a:solidFill>
                  <a:srgbClr val="11111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AGING IS QUIET</a:t>
            </a:r>
            <a:endParaRPr sz="750" b="0">
              <a:solidFill>
                <a:srgbClr val="11111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594360" y="612648"/>
            <a:ext cx="11000232" cy="0"/>
          </a:xfrm>
          <a:prstGeom prst="line">
            <a:avLst/>
          </a:prstGeom>
          <a:ln w="4445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anim_021"/>
          <p:cNvSpPr txBox="1"/>
          <p:nvPr/>
        </p:nvSpPr>
        <p:spPr>
          <a:xfrm>
            <a:off x="594360" y="987552"/>
            <a:ext cx="5029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800" b="1">
                <a:solidFill>
                  <a:srgbClr val="0057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BODY SIGNAL</a:t>
            </a:r>
            <a:endParaRPr sz="800" b="1">
              <a:solidFill>
                <a:srgbClr val="0057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" name="anim_022"/>
          <p:cNvSpPr txBox="1"/>
          <p:nvPr/>
        </p:nvSpPr>
        <p:spPr>
          <a:xfrm>
            <a:off x="594360" y="1316736"/>
            <a:ext cx="10607040" cy="10789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34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身体不是突然变差的。
它是悄悄失去系统能力。</a:t>
            </a:r>
            <a:endParaRPr sz="340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anim_023"/>
          <p:cNvSpPr/>
          <p:nvPr/>
        </p:nvSpPr>
        <p:spPr>
          <a:xfrm>
            <a:off x="640080" y="2880360"/>
            <a:ext cx="3246120" cy="2057400"/>
          </a:xfrm>
          <a:prstGeom prst="rect">
            <a:avLst/>
          </a:prstGeom>
          <a:solidFill>
            <a:srgbClr val="F7F7F1"/>
          </a:solidFill>
          <a:ln w="1016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anim_024"/>
          <p:cNvSpPr txBox="1"/>
          <p:nvPr/>
        </p:nvSpPr>
        <p:spPr>
          <a:xfrm>
            <a:off x="841247" y="3026664"/>
            <a:ext cx="7315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750" b="0">
                <a:solidFill>
                  <a:srgbClr val="0057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30+</a:t>
            </a:r>
            <a:endParaRPr sz="750" b="0">
              <a:solidFill>
                <a:srgbClr val="0057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9" name="anim_025"/>
          <p:cNvSpPr txBox="1"/>
          <p:nvPr/>
        </p:nvSpPr>
        <p:spPr>
          <a:xfrm>
            <a:off x="841247" y="3291840"/>
            <a:ext cx="2843784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6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肌肉开始流失</a:t>
            </a:r>
            <a:endParaRPr sz="1600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anim_026"/>
          <p:cNvSpPr txBox="1"/>
          <p:nvPr/>
        </p:nvSpPr>
        <p:spPr>
          <a:xfrm>
            <a:off x="841247" y="3703320"/>
            <a:ext cx="2843784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20" b="0">
                <a:solidFill>
                  <a:srgbClr val="4C4C4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身体引擎变弱，代谢、力量和精力一起下滑。</a:t>
            </a:r>
            <a:endParaRPr sz="1020" b="0">
              <a:solidFill>
                <a:srgbClr val="4C4C4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anim_027"/>
          <p:cNvSpPr/>
          <p:nvPr/>
        </p:nvSpPr>
        <p:spPr>
          <a:xfrm>
            <a:off x="4480560" y="2880360"/>
            <a:ext cx="3246120" cy="2057400"/>
          </a:xfrm>
          <a:prstGeom prst="rect">
            <a:avLst/>
          </a:prstGeom>
          <a:solidFill>
            <a:srgbClr val="F7F7F1"/>
          </a:solidFill>
          <a:ln w="1016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anim_028"/>
          <p:cNvSpPr txBox="1"/>
          <p:nvPr/>
        </p:nvSpPr>
        <p:spPr>
          <a:xfrm>
            <a:off x="4681728" y="3026664"/>
            <a:ext cx="7315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750" b="0">
                <a:solidFill>
                  <a:srgbClr val="0057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</a:t>
            </a:r>
            <a:endParaRPr sz="750" b="0">
              <a:solidFill>
                <a:srgbClr val="0057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3" name="anim_029"/>
          <p:cNvSpPr txBox="1"/>
          <p:nvPr/>
        </p:nvSpPr>
        <p:spPr>
          <a:xfrm>
            <a:off x="4681728" y="3291840"/>
            <a:ext cx="2843784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6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没症状不等于没问题</a:t>
            </a:r>
            <a:endParaRPr sz="1600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anim_030"/>
          <p:cNvSpPr txBox="1"/>
          <p:nvPr/>
        </p:nvSpPr>
        <p:spPr>
          <a:xfrm>
            <a:off x="4681728" y="3703320"/>
            <a:ext cx="2843784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20" b="0">
                <a:solidFill>
                  <a:srgbClr val="4C4C4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很多风险，在你感觉到之前已经累积很久。</a:t>
            </a:r>
            <a:endParaRPr sz="1020" b="0">
              <a:solidFill>
                <a:srgbClr val="4C4C4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anim_031"/>
          <p:cNvSpPr/>
          <p:nvPr/>
        </p:nvSpPr>
        <p:spPr>
          <a:xfrm>
            <a:off x="8321040" y="2880360"/>
            <a:ext cx="3246120" cy="2057400"/>
          </a:xfrm>
          <a:prstGeom prst="rect">
            <a:avLst/>
          </a:prstGeom>
          <a:solidFill>
            <a:srgbClr val="0057FF"/>
          </a:solidFill>
          <a:ln w="10160">
            <a:solidFill>
              <a:srgbClr val="005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anim_032"/>
          <p:cNvSpPr txBox="1"/>
          <p:nvPr/>
        </p:nvSpPr>
        <p:spPr>
          <a:xfrm>
            <a:off x="8522208" y="3026664"/>
            <a:ext cx="7315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750" b="0">
                <a:solidFill>
                  <a:srgbClr val="11111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OS</a:t>
            </a:r>
            <a:endParaRPr sz="750" b="0">
              <a:solidFill>
                <a:srgbClr val="11111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7" name="anim_033"/>
          <p:cNvSpPr txBox="1"/>
          <p:nvPr/>
        </p:nvSpPr>
        <p:spPr>
          <a:xfrm>
            <a:off x="8522208" y="3291840"/>
            <a:ext cx="2843784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6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需要提前升级</a:t>
            </a:r>
            <a:endParaRPr sz="1600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anim_034"/>
          <p:cNvSpPr txBox="1"/>
          <p:nvPr/>
        </p:nvSpPr>
        <p:spPr>
          <a:xfrm>
            <a:off x="8522208" y="3703320"/>
            <a:ext cx="2843784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20" b="0">
                <a:solidFill>
                  <a:srgbClr val="4C4C4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不要等身体报警，才开始处理系统问题。</a:t>
            </a:r>
            <a:endParaRPr sz="1020" b="0">
              <a:solidFill>
                <a:srgbClr val="4C4C4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49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6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8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0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24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4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98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18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8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2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7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26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68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0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74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34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688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38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810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42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940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46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078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50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2240"/>
                            </p:stCondLst>
                            <p:childTnLst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1040"/>
                                  </p:stCondLst>
                                  <p:childTnLst>
                                    <p:set>
                                      <p:cBhvr>
                                        <p:cTn id="54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3780"/>
                            </p:stCondLst>
                            <p:childTnLst>
                              <p:par>
                                <p:cTn id="57" presetID="10" presetClass="entr" presetSubtype="0" fill="hold" grpId="0" nodeType="after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58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 animBg="1"/>
      <p:bldP spid="8" grpId="0"/>
      <p:bldP spid="9" grpId="0"/>
      <p:bldP spid="10" grpId="0"/>
      <p:bldP spid="11" grpId="0" animBg="1"/>
      <p:bldP spid="12" grpId="0"/>
      <p:bldP spid="13" grpId="0"/>
      <p:bldP spid="14" grpId="0"/>
      <p:bldP spid="15" grpId="0" animBg="1"/>
      <p:bldP spid="16" grpId="0"/>
      <p:bldP spid="17" grpId="0"/>
      <p:bldP spid="1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56692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750" b="0">
                <a:solidFill>
                  <a:srgbClr val="11111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05 / 21 · MARKET MAP</a:t>
            </a:r>
            <a:endParaRPr sz="750" b="0">
              <a:solidFill>
                <a:srgbClr val="11111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869680" y="292608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4000"/>
              </a:lnSpc>
            </a:pPr>
            <a:r>
              <a:rPr sz="750" b="0">
                <a:solidFill>
                  <a:srgbClr val="11111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SINGLE PURPOSE</a:t>
            </a:r>
            <a:endParaRPr sz="750" b="0">
              <a:solidFill>
                <a:srgbClr val="11111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594360" y="612648"/>
            <a:ext cx="11000232" cy="0"/>
          </a:xfrm>
          <a:prstGeom prst="line">
            <a:avLst/>
          </a:prstGeom>
          <a:ln w="4445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anim_035"/>
          <p:cNvSpPr txBox="1"/>
          <p:nvPr/>
        </p:nvSpPr>
        <p:spPr>
          <a:xfrm>
            <a:off x="594360" y="987552"/>
            <a:ext cx="5029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800" b="1">
                <a:solidFill>
                  <a:srgbClr val="0057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MARKET MAP</a:t>
            </a:r>
            <a:endParaRPr sz="800" b="1">
              <a:solidFill>
                <a:srgbClr val="0057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" name="anim_036"/>
          <p:cNvSpPr txBox="1"/>
          <p:nvPr/>
        </p:nvSpPr>
        <p:spPr>
          <a:xfrm>
            <a:off x="594360" y="1316736"/>
            <a:ext cx="10607040" cy="10789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32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市场上的方案没有错，
它们只是各自服务一个目的。</a:t>
            </a:r>
            <a:endParaRPr sz="320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anim_037"/>
          <p:cNvSpPr/>
          <p:nvPr/>
        </p:nvSpPr>
        <p:spPr>
          <a:xfrm>
            <a:off x="640080" y="2926080"/>
            <a:ext cx="2377440" cy="2057400"/>
          </a:xfrm>
          <a:prstGeom prst="rect">
            <a:avLst/>
          </a:prstGeom>
          <a:solidFill>
            <a:srgbClr val="F7F7F1"/>
          </a:solidFill>
          <a:ln w="1016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anim_038"/>
          <p:cNvSpPr txBox="1"/>
          <p:nvPr/>
        </p:nvSpPr>
        <p:spPr>
          <a:xfrm>
            <a:off x="841247" y="3072384"/>
            <a:ext cx="7315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750" b="0">
                <a:solidFill>
                  <a:srgbClr val="0057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01</a:t>
            </a:r>
            <a:endParaRPr sz="750" b="0">
              <a:solidFill>
                <a:srgbClr val="0057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9" name="anim_039"/>
          <p:cNvSpPr txBox="1"/>
          <p:nvPr/>
        </p:nvSpPr>
        <p:spPr>
          <a:xfrm>
            <a:off x="841247" y="3337560"/>
            <a:ext cx="1975104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6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健身房</a:t>
            </a:r>
            <a:endParaRPr sz="1600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anim_040"/>
          <p:cNvSpPr txBox="1"/>
          <p:nvPr/>
        </p:nvSpPr>
        <p:spPr>
          <a:xfrm>
            <a:off x="841247" y="3749040"/>
            <a:ext cx="1975104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20" b="0">
                <a:solidFill>
                  <a:srgbClr val="4C4C4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提供场地、器械和训练动作。</a:t>
            </a:r>
            <a:endParaRPr sz="1020" b="0">
              <a:solidFill>
                <a:srgbClr val="4C4C4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anim_041"/>
          <p:cNvSpPr/>
          <p:nvPr/>
        </p:nvSpPr>
        <p:spPr>
          <a:xfrm>
            <a:off x="3429000" y="2926080"/>
            <a:ext cx="2377440" cy="2057400"/>
          </a:xfrm>
          <a:prstGeom prst="rect">
            <a:avLst/>
          </a:prstGeom>
          <a:solidFill>
            <a:srgbClr val="F7F7F1"/>
          </a:solidFill>
          <a:ln w="1016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anim_042"/>
          <p:cNvSpPr txBox="1"/>
          <p:nvPr/>
        </p:nvSpPr>
        <p:spPr>
          <a:xfrm>
            <a:off x="3630168" y="3072384"/>
            <a:ext cx="7315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750" b="0">
                <a:solidFill>
                  <a:srgbClr val="0057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02</a:t>
            </a:r>
            <a:endParaRPr sz="750" b="0">
              <a:solidFill>
                <a:srgbClr val="0057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3" name="anim_043"/>
          <p:cNvSpPr txBox="1"/>
          <p:nvPr/>
        </p:nvSpPr>
        <p:spPr>
          <a:xfrm>
            <a:off x="3630168" y="3337560"/>
            <a:ext cx="1975104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6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饮食方案</a:t>
            </a:r>
            <a:endParaRPr sz="1600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anim_044"/>
          <p:cNvSpPr txBox="1"/>
          <p:nvPr/>
        </p:nvSpPr>
        <p:spPr>
          <a:xfrm>
            <a:off x="3630168" y="3749040"/>
            <a:ext cx="1975104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20" b="0">
                <a:solidFill>
                  <a:srgbClr val="4C4C4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控制热量、食材和短期结果。</a:t>
            </a:r>
            <a:endParaRPr sz="1020" b="0">
              <a:solidFill>
                <a:srgbClr val="4C4C4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anim_045"/>
          <p:cNvSpPr/>
          <p:nvPr/>
        </p:nvSpPr>
        <p:spPr>
          <a:xfrm>
            <a:off x="6217920" y="2926080"/>
            <a:ext cx="2377440" cy="2057400"/>
          </a:xfrm>
          <a:prstGeom prst="rect">
            <a:avLst/>
          </a:prstGeom>
          <a:solidFill>
            <a:srgbClr val="F7F7F1"/>
          </a:solidFill>
          <a:ln w="1016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anim_046"/>
          <p:cNvSpPr txBox="1"/>
          <p:nvPr/>
        </p:nvSpPr>
        <p:spPr>
          <a:xfrm>
            <a:off x="6419088" y="3072384"/>
            <a:ext cx="7315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750" b="0">
                <a:solidFill>
                  <a:srgbClr val="0057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03</a:t>
            </a:r>
            <a:endParaRPr sz="750" b="0">
              <a:solidFill>
                <a:srgbClr val="0057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7" name="anim_047"/>
          <p:cNvSpPr txBox="1"/>
          <p:nvPr/>
        </p:nvSpPr>
        <p:spPr>
          <a:xfrm>
            <a:off x="6419088" y="3337560"/>
            <a:ext cx="1975104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6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知识课程</a:t>
            </a:r>
            <a:endParaRPr sz="1600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anim_048"/>
          <p:cNvSpPr txBox="1"/>
          <p:nvPr/>
        </p:nvSpPr>
        <p:spPr>
          <a:xfrm>
            <a:off x="6419088" y="3749040"/>
            <a:ext cx="1975104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20" b="0">
                <a:solidFill>
                  <a:srgbClr val="4C4C4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讲清原理，却很难陪你每天执行。</a:t>
            </a:r>
            <a:endParaRPr sz="1020" b="0">
              <a:solidFill>
                <a:srgbClr val="4C4C4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anim_049"/>
          <p:cNvSpPr/>
          <p:nvPr/>
        </p:nvSpPr>
        <p:spPr>
          <a:xfrm>
            <a:off x="9006839" y="2926080"/>
            <a:ext cx="2377440" cy="2057400"/>
          </a:xfrm>
          <a:prstGeom prst="rect">
            <a:avLst/>
          </a:prstGeom>
          <a:solidFill>
            <a:srgbClr val="0057FF"/>
          </a:solidFill>
          <a:ln w="10160">
            <a:solidFill>
              <a:srgbClr val="005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anim_050"/>
          <p:cNvSpPr txBox="1"/>
          <p:nvPr/>
        </p:nvSpPr>
        <p:spPr>
          <a:xfrm>
            <a:off x="9208007" y="3072384"/>
            <a:ext cx="7315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750" b="0">
                <a:solidFill>
                  <a:srgbClr val="11111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04</a:t>
            </a:r>
            <a:endParaRPr sz="750" b="0">
              <a:solidFill>
                <a:srgbClr val="11111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1" name="anim_051"/>
          <p:cNvSpPr txBox="1"/>
          <p:nvPr/>
        </p:nvSpPr>
        <p:spPr>
          <a:xfrm>
            <a:off x="9208007" y="3337560"/>
            <a:ext cx="1975104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6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工具软件</a:t>
            </a:r>
            <a:endParaRPr sz="1600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anim_052"/>
          <p:cNvSpPr txBox="1"/>
          <p:nvPr/>
        </p:nvSpPr>
        <p:spPr>
          <a:xfrm>
            <a:off x="9208007" y="3749040"/>
            <a:ext cx="1975104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20" b="0">
                <a:solidFill>
                  <a:srgbClr val="4C4C4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记录数据，但很难改变环境。</a:t>
            </a:r>
            <a:endParaRPr sz="1020" b="0">
              <a:solidFill>
                <a:srgbClr val="4C4C4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49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6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8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0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24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4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98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18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8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2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7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26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68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0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74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34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688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38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810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42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940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46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078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50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2240"/>
                            </p:stCondLst>
                            <p:childTnLst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1040"/>
                                  </p:stCondLst>
                                  <p:childTnLst>
                                    <p:set>
                                      <p:cBhvr>
                                        <p:cTn id="54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3780"/>
                            </p:stCondLst>
                            <p:childTnLst>
                              <p:par>
                                <p:cTn id="57" presetID="10" presetClass="entr" presetSubtype="0" fill="hold" grpId="0" nodeType="after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58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5380"/>
                            </p:stCondLst>
                            <p:childTnLst>
                              <p:par>
                                <p:cTn id="61" presetID="10" presetClass="entr" presetSubtype="0" fill="hold" grpId="0" nodeType="after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62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698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66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18580"/>
                            </p:stCondLst>
                            <p:childTnLst>
                              <p:par>
                                <p:cTn id="69" presetID="10" presetClass="entr" presetSubtype="0" fill="hold" grpId="0" nodeType="after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70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20180"/>
                            </p:stCondLst>
                            <p:childTnLst>
                              <p:par>
                                <p:cTn id="73" presetID="10" presetClass="entr" presetSubtype="0" fill="hold" grpId="0" nodeType="after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74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 animBg="1"/>
      <p:bldP spid="8" grpId="0"/>
      <p:bldP spid="9" grpId="0"/>
      <p:bldP spid="10" grpId="0"/>
      <p:bldP spid="11" grpId="0" animBg="1"/>
      <p:bldP spid="12" grpId="0"/>
      <p:bldP spid="13" grpId="0"/>
      <p:bldP spid="14" grpId="0"/>
      <p:bldP spid="15" grpId="0" animBg="1"/>
      <p:bldP spid="16" grpId="0"/>
      <p:bldP spid="17" grpId="0"/>
      <p:bldP spid="18" grpId="0"/>
      <p:bldP spid="19" grpId="0" animBg="1"/>
      <p:bldP spid="20" grpId="0"/>
      <p:bldP spid="21" grpId="0"/>
      <p:bldP spid="2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56692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750" b="0">
                <a:solidFill>
                  <a:srgbClr val="11111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06 / 21 · MARKET LOGIC</a:t>
            </a:r>
            <a:endParaRPr sz="750" b="0">
              <a:solidFill>
                <a:srgbClr val="11111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869680" y="292608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4000"/>
              </a:lnSpc>
            </a:pPr>
            <a:r>
              <a:rPr sz="750" b="0">
                <a:solidFill>
                  <a:srgbClr val="11111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ONE PART ONLY</a:t>
            </a:r>
            <a:endParaRPr sz="750" b="0">
              <a:solidFill>
                <a:srgbClr val="11111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594360" y="612648"/>
            <a:ext cx="11000232" cy="0"/>
          </a:xfrm>
          <a:prstGeom prst="line">
            <a:avLst/>
          </a:prstGeom>
          <a:ln w="4445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anim_053"/>
          <p:cNvSpPr txBox="1"/>
          <p:nvPr/>
        </p:nvSpPr>
        <p:spPr>
          <a:xfrm>
            <a:off x="594360" y="987552"/>
            <a:ext cx="5029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800" b="1">
                <a:solidFill>
                  <a:srgbClr val="0057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MARKET LOGIC</a:t>
            </a:r>
            <a:endParaRPr sz="800" b="1">
              <a:solidFill>
                <a:srgbClr val="0057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" name="anim_054"/>
          <p:cNvSpPr txBox="1"/>
          <p:nvPr/>
        </p:nvSpPr>
        <p:spPr>
          <a:xfrm>
            <a:off x="594360" y="1316736"/>
            <a:ext cx="10607040" cy="10789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34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它优化的是环节，
不是你这个人。</a:t>
            </a:r>
            <a:endParaRPr sz="340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anim_055"/>
          <p:cNvSpPr/>
          <p:nvPr/>
        </p:nvSpPr>
        <p:spPr>
          <a:xfrm>
            <a:off x="640080" y="2788920"/>
            <a:ext cx="5074920" cy="2423160"/>
          </a:xfrm>
          <a:prstGeom prst="rect">
            <a:avLst/>
          </a:prstGeom>
          <a:solidFill>
            <a:srgbClr val="F7F7F1"/>
          </a:solidFill>
          <a:ln w="1016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anim_056"/>
          <p:cNvSpPr txBox="1"/>
          <p:nvPr/>
        </p:nvSpPr>
        <p:spPr>
          <a:xfrm>
            <a:off x="841247" y="2935224"/>
            <a:ext cx="7315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750" b="0">
                <a:solidFill>
                  <a:srgbClr val="0057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</a:t>
            </a:r>
            <a:endParaRPr sz="750" b="0">
              <a:solidFill>
                <a:srgbClr val="0057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9" name="anim_057"/>
          <p:cNvSpPr txBox="1"/>
          <p:nvPr/>
        </p:nvSpPr>
        <p:spPr>
          <a:xfrm>
            <a:off x="841247" y="3200400"/>
            <a:ext cx="4672583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6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单一目的</a:t>
            </a:r>
            <a:endParaRPr sz="1600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anim_058"/>
          <p:cNvSpPr txBox="1"/>
          <p:nvPr/>
        </p:nvSpPr>
        <p:spPr>
          <a:xfrm>
            <a:off x="841247" y="3611879"/>
            <a:ext cx="4672583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20" b="0">
                <a:solidFill>
                  <a:srgbClr val="4C4C4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课程、场地、工具、饮食计划，各自优化一个环节。</a:t>
            </a:r>
            <a:endParaRPr sz="1020" b="0">
              <a:solidFill>
                <a:srgbClr val="4C4C4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anim_059"/>
          <p:cNvSpPr/>
          <p:nvPr/>
        </p:nvSpPr>
        <p:spPr>
          <a:xfrm>
            <a:off x="6446520" y="2788920"/>
            <a:ext cx="5074920" cy="2423160"/>
          </a:xfrm>
          <a:prstGeom prst="rect">
            <a:avLst/>
          </a:prstGeom>
          <a:solidFill>
            <a:srgbClr val="0057FF"/>
          </a:solidFill>
          <a:ln w="10160">
            <a:solidFill>
              <a:srgbClr val="005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anim_060"/>
          <p:cNvSpPr txBox="1"/>
          <p:nvPr/>
        </p:nvSpPr>
        <p:spPr>
          <a:xfrm>
            <a:off x="6647688" y="2935224"/>
            <a:ext cx="7315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750" b="0">
                <a:solidFill>
                  <a:srgbClr val="11111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B</a:t>
            </a:r>
            <a:endParaRPr sz="750" b="0">
              <a:solidFill>
                <a:srgbClr val="11111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3" name="anim_061"/>
          <p:cNvSpPr txBox="1"/>
          <p:nvPr/>
        </p:nvSpPr>
        <p:spPr>
          <a:xfrm>
            <a:off x="6647688" y="3200400"/>
            <a:ext cx="4672583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6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真实生活</a:t>
            </a:r>
            <a:endParaRPr sz="1600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anim_062"/>
          <p:cNvSpPr txBox="1"/>
          <p:nvPr/>
        </p:nvSpPr>
        <p:spPr>
          <a:xfrm>
            <a:off x="6647688" y="3611879"/>
            <a:ext cx="4672583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20" b="0">
                <a:solidFill>
                  <a:srgbClr val="4C4C4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你每天面对的是工作、家庭、社交、情绪和身体状态的共同作用。</a:t>
            </a:r>
            <a:endParaRPr sz="1020" b="0">
              <a:solidFill>
                <a:srgbClr val="4C4C4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49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6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8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0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24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4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98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18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8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2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7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26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68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0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74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34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688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38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810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42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 animBg="1"/>
      <p:bldP spid="8" grpId="0"/>
      <p:bldP spid="9" grpId="0"/>
      <p:bldP spid="10" grpId="0"/>
      <p:bldP spid="11" grpId="0" animBg="1"/>
      <p:bldP spid="12" grpId="0"/>
      <p:bldP spid="13" grpId="0"/>
      <p:bldP spid="1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56692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750" b="0">
                <a:solidFill>
                  <a:srgbClr val="11111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07 / 21 · THE GAP</a:t>
            </a:r>
            <a:endParaRPr sz="750" b="0">
              <a:solidFill>
                <a:srgbClr val="11111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869680" y="292608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4000"/>
              </a:lnSpc>
            </a:pPr>
            <a:r>
              <a:rPr sz="750" b="0">
                <a:solidFill>
                  <a:srgbClr val="11111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METHOD VS SYSTEM</a:t>
            </a:r>
            <a:endParaRPr sz="750" b="0">
              <a:solidFill>
                <a:srgbClr val="11111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594360" y="612648"/>
            <a:ext cx="11000232" cy="0"/>
          </a:xfrm>
          <a:prstGeom prst="line">
            <a:avLst/>
          </a:prstGeom>
          <a:ln w="4445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anim_063"/>
          <p:cNvSpPr txBox="1"/>
          <p:nvPr/>
        </p:nvSpPr>
        <p:spPr>
          <a:xfrm>
            <a:off x="594360" y="987552"/>
            <a:ext cx="5029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800" b="1">
                <a:solidFill>
                  <a:srgbClr val="0057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THE GAP</a:t>
            </a:r>
            <a:endParaRPr sz="800" b="1">
              <a:solidFill>
                <a:srgbClr val="0057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" name="anim_064"/>
          <p:cNvSpPr txBox="1"/>
          <p:nvPr/>
        </p:nvSpPr>
        <p:spPr>
          <a:xfrm>
            <a:off x="594360" y="1316736"/>
            <a:ext cx="10607040" cy="10789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33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为什么你买过很多方法，
身体还是没变？</a:t>
            </a:r>
            <a:endParaRPr sz="330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anim_065"/>
          <p:cNvSpPr/>
          <p:nvPr/>
        </p:nvSpPr>
        <p:spPr>
          <a:xfrm>
            <a:off x="640080" y="2788920"/>
            <a:ext cx="5074920" cy="2423160"/>
          </a:xfrm>
          <a:prstGeom prst="rect">
            <a:avLst/>
          </a:prstGeom>
          <a:solidFill>
            <a:srgbClr val="F7F7F1"/>
          </a:solidFill>
          <a:ln w="1016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anim_066"/>
          <p:cNvSpPr txBox="1"/>
          <p:nvPr/>
        </p:nvSpPr>
        <p:spPr>
          <a:xfrm>
            <a:off x="841247" y="2935224"/>
            <a:ext cx="7315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750" b="0">
                <a:solidFill>
                  <a:srgbClr val="0057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</a:t>
            </a:r>
            <a:endParaRPr sz="750" b="0">
              <a:solidFill>
                <a:srgbClr val="0057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9" name="anim_067"/>
          <p:cNvSpPr txBox="1"/>
          <p:nvPr/>
        </p:nvSpPr>
        <p:spPr>
          <a:xfrm>
            <a:off x="841247" y="3200400"/>
            <a:ext cx="4672583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6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方法给答案</a:t>
            </a:r>
            <a:endParaRPr sz="1600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anim_068"/>
          <p:cNvSpPr txBox="1"/>
          <p:nvPr/>
        </p:nvSpPr>
        <p:spPr>
          <a:xfrm>
            <a:off x="841247" y="3611879"/>
            <a:ext cx="4672583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20" b="0">
                <a:solidFill>
                  <a:srgbClr val="4C4C4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告诉你吃什么、练什么、怎么做。生活一忙，答案就被放到一边。</a:t>
            </a:r>
            <a:endParaRPr sz="1020" b="0">
              <a:solidFill>
                <a:srgbClr val="4C4C4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anim_069"/>
          <p:cNvSpPr/>
          <p:nvPr/>
        </p:nvSpPr>
        <p:spPr>
          <a:xfrm>
            <a:off x="6446520" y="2788920"/>
            <a:ext cx="5074920" cy="2423160"/>
          </a:xfrm>
          <a:prstGeom prst="rect">
            <a:avLst/>
          </a:prstGeom>
          <a:solidFill>
            <a:srgbClr val="0057FF"/>
          </a:solidFill>
          <a:ln w="10160">
            <a:solidFill>
              <a:srgbClr val="005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anim_070"/>
          <p:cNvSpPr txBox="1"/>
          <p:nvPr/>
        </p:nvSpPr>
        <p:spPr>
          <a:xfrm>
            <a:off x="6647688" y="2935224"/>
            <a:ext cx="7315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750" b="0">
                <a:solidFill>
                  <a:srgbClr val="11111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B</a:t>
            </a:r>
            <a:endParaRPr sz="750" b="0">
              <a:solidFill>
                <a:srgbClr val="11111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3" name="anim_071"/>
          <p:cNvSpPr txBox="1"/>
          <p:nvPr/>
        </p:nvSpPr>
        <p:spPr>
          <a:xfrm>
            <a:off x="6647688" y="3200400"/>
            <a:ext cx="4672583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6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系统改默认值</a:t>
            </a:r>
            <a:endParaRPr sz="1600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anim_072"/>
          <p:cNvSpPr txBox="1"/>
          <p:nvPr/>
        </p:nvSpPr>
        <p:spPr>
          <a:xfrm>
            <a:off x="6647688" y="3611879"/>
            <a:ext cx="4672583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20" b="0">
                <a:solidFill>
                  <a:srgbClr val="4C4C4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让动作、反馈、同伴和复训成为生活的一部分。</a:t>
            </a:r>
            <a:endParaRPr sz="1020" b="0">
              <a:solidFill>
                <a:srgbClr val="4C4C4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49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6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8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0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24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4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98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18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8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2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7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26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68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0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74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34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688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38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810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42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 animBg="1"/>
      <p:bldP spid="8" grpId="0"/>
      <p:bldP spid="9" grpId="0"/>
      <p:bldP spid="10" grpId="0"/>
      <p:bldP spid="11" grpId="0" animBg="1"/>
      <p:bldP spid="12" grpId="0"/>
      <p:bldP spid="13" grpId="0"/>
      <p:bldP spid="1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56692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750" b="0">
                <a:solidFill>
                  <a:srgbClr val="11111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08 / 21 · THE ANSWER</a:t>
            </a:r>
            <a:endParaRPr sz="750" b="0">
              <a:solidFill>
                <a:srgbClr val="11111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869680" y="292608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4000"/>
              </a:lnSpc>
            </a:pPr>
            <a:r>
              <a:rPr sz="750" b="0">
                <a:solidFill>
                  <a:srgbClr val="11111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HEALTH OS</a:t>
            </a:r>
            <a:endParaRPr sz="750" b="0">
              <a:solidFill>
                <a:srgbClr val="11111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594360" y="612648"/>
            <a:ext cx="11000232" cy="0"/>
          </a:xfrm>
          <a:prstGeom prst="line">
            <a:avLst/>
          </a:prstGeom>
          <a:ln w="4445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anim_073"/>
          <p:cNvSpPr txBox="1"/>
          <p:nvPr/>
        </p:nvSpPr>
        <p:spPr>
          <a:xfrm>
            <a:off x="658368" y="1143000"/>
            <a:ext cx="6492240" cy="274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86000"/>
              </a:lnSpc>
            </a:pPr>
            <a:r>
              <a:rPr sz="46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你需要的，
是一套
健康操作系统。</a:t>
            </a:r>
            <a:endParaRPr sz="460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7680960" y="1143000"/>
            <a:ext cx="0" cy="4480560"/>
          </a:xfrm>
          <a:prstGeom prst="line">
            <a:avLst/>
          </a:prstGeom>
          <a:ln w="7620">
            <a:solidFill>
              <a:srgbClr val="5A5A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anim_074"/>
          <p:cNvSpPr txBox="1"/>
          <p:nvPr/>
        </p:nvSpPr>
        <p:spPr>
          <a:xfrm>
            <a:off x="8001000" y="1828800"/>
            <a:ext cx="324612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9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健康操作系统 = 认知框架 + 行为程序 + 环境反馈。</a:t>
            </a:r>
            <a:endParaRPr sz="190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anim_075"/>
          <p:cNvSpPr txBox="1"/>
          <p:nvPr/>
        </p:nvSpPr>
        <p:spPr>
          <a:xfrm>
            <a:off x="8001000" y="2971800"/>
            <a:ext cx="30632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250" b="0">
                <a:solidFill>
                  <a:srgbClr val="CECEC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建立后，早起、运动、饮食和复盘不再靠临时意志，而是有一套能自动运行的流程。</a:t>
            </a:r>
            <a:endParaRPr sz="1250" b="0">
              <a:solidFill>
                <a:srgbClr val="CECEC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49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6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8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0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24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4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56692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750" b="0">
                <a:solidFill>
                  <a:srgbClr val="11111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09 / 21 · SYSTEM MODULES</a:t>
            </a:r>
            <a:endParaRPr sz="750" b="0">
              <a:solidFill>
                <a:srgbClr val="11111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869680" y="292608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4000"/>
              </a:lnSpc>
            </a:pPr>
            <a:r>
              <a:rPr sz="750" b="0">
                <a:solidFill>
                  <a:srgbClr val="11111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INTEGRATED</a:t>
            </a:r>
            <a:endParaRPr sz="750" b="0">
              <a:solidFill>
                <a:srgbClr val="11111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594360" y="612648"/>
            <a:ext cx="11000232" cy="0"/>
          </a:xfrm>
          <a:prstGeom prst="line">
            <a:avLst/>
          </a:prstGeom>
          <a:ln w="4445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anim_076"/>
          <p:cNvSpPr txBox="1"/>
          <p:nvPr/>
        </p:nvSpPr>
        <p:spPr>
          <a:xfrm>
            <a:off x="594360" y="987552"/>
            <a:ext cx="5029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800" b="1">
                <a:solidFill>
                  <a:srgbClr val="0057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SYSTEM MODULES</a:t>
            </a:r>
            <a:endParaRPr sz="800" b="1">
              <a:solidFill>
                <a:srgbClr val="0057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" name="anim_077"/>
          <p:cNvSpPr txBox="1"/>
          <p:nvPr/>
        </p:nvSpPr>
        <p:spPr>
          <a:xfrm>
            <a:off x="594360" y="1316736"/>
            <a:ext cx="10607040" cy="10789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33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不是拼更多知识，
而是让它们互相支撑。</a:t>
            </a:r>
            <a:endParaRPr sz="330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anim_078"/>
          <p:cNvSpPr/>
          <p:nvPr/>
        </p:nvSpPr>
        <p:spPr>
          <a:xfrm>
            <a:off x="640080" y="2743200"/>
            <a:ext cx="3246120" cy="1005840"/>
          </a:xfrm>
          <a:prstGeom prst="rect">
            <a:avLst/>
          </a:prstGeom>
          <a:solidFill>
            <a:srgbClr val="F7F7F1"/>
          </a:solidFill>
          <a:ln w="1016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anim_079"/>
          <p:cNvSpPr txBox="1"/>
          <p:nvPr/>
        </p:nvSpPr>
        <p:spPr>
          <a:xfrm>
            <a:off x="841247" y="2889504"/>
            <a:ext cx="7315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750" b="0">
                <a:solidFill>
                  <a:srgbClr val="0057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01</a:t>
            </a:r>
            <a:endParaRPr sz="750" b="0">
              <a:solidFill>
                <a:srgbClr val="0057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9" name="anim_080"/>
          <p:cNvSpPr txBox="1"/>
          <p:nvPr/>
        </p:nvSpPr>
        <p:spPr>
          <a:xfrm>
            <a:off x="841247" y="3154680"/>
            <a:ext cx="2843784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6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医学</a:t>
            </a:r>
            <a:endParaRPr sz="1600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anim_081"/>
          <p:cNvSpPr txBox="1"/>
          <p:nvPr/>
        </p:nvSpPr>
        <p:spPr>
          <a:xfrm>
            <a:off x="841247" y="3566160"/>
            <a:ext cx="2843784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20" b="0">
                <a:solidFill>
                  <a:srgbClr val="4C4C4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安全边界</a:t>
            </a:r>
            <a:endParaRPr sz="1020" b="0">
              <a:solidFill>
                <a:srgbClr val="4C4C4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anim_082"/>
          <p:cNvSpPr/>
          <p:nvPr/>
        </p:nvSpPr>
        <p:spPr>
          <a:xfrm>
            <a:off x="4389120" y="2743200"/>
            <a:ext cx="3246120" cy="1005840"/>
          </a:xfrm>
          <a:prstGeom prst="rect">
            <a:avLst/>
          </a:prstGeom>
          <a:solidFill>
            <a:srgbClr val="F7F7F1"/>
          </a:solidFill>
          <a:ln w="1016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anim_083"/>
          <p:cNvSpPr txBox="1"/>
          <p:nvPr/>
        </p:nvSpPr>
        <p:spPr>
          <a:xfrm>
            <a:off x="4590288" y="2889504"/>
            <a:ext cx="7315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750" b="0">
                <a:solidFill>
                  <a:srgbClr val="0057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02</a:t>
            </a:r>
            <a:endParaRPr sz="750" b="0">
              <a:solidFill>
                <a:srgbClr val="0057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3" name="anim_084"/>
          <p:cNvSpPr txBox="1"/>
          <p:nvPr/>
        </p:nvSpPr>
        <p:spPr>
          <a:xfrm>
            <a:off x="4590288" y="3154680"/>
            <a:ext cx="2843784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6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营养</a:t>
            </a:r>
            <a:endParaRPr sz="1600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anim_085"/>
          <p:cNvSpPr txBox="1"/>
          <p:nvPr/>
        </p:nvSpPr>
        <p:spPr>
          <a:xfrm>
            <a:off x="4590288" y="3566160"/>
            <a:ext cx="2843784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20" b="0">
                <a:solidFill>
                  <a:srgbClr val="4C4C4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身体原料</a:t>
            </a:r>
            <a:endParaRPr sz="1020" b="0">
              <a:solidFill>
                <a:srgbClr val="4C4C4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anim_086"/>
          <p:cNvSpPr/>
          <p:nvPr/>
        </p:nvSpPr>
        <p:spPr>
          <a:xfrm>
            <a:off x="8138159" y="2743200"/>
            <a:ext cx="3246120" cy="1005840"/>
          </a:xfrm>
          <a:prstGeom prst="rect">
            <a:avLst/>
          </a:prstGeom>
          <a:solidFill>
            <a:srgbClr val="F7F7F1"/>
          </a:solidFill>
          <a:ln w="1016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anim_087"/>
          <p:cNvSpPr txBox="1"/>
          <p:nvPr/>
        </p:nvSpPr>
        <p:spPr>
          <a:xfrm>
            <a:off x="8339327" y="2889504"/>
            <a:ext cx="7315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750" b="0">
                <a:solidFill>
                  <a:srgbClr val="0057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03</a:t>
            </a:r>
            <a:endParaRPr sz="750" b="0">
              <a:solidFill>
                <a:srgbClr val="0057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7" name="anim_088"/>
          <p:cNvSpPr txBox="1"/>
          <p:nvPr/>
        </p:nvSpPr>
        <p:spPr>
          <a:xfrm>
            <a:off x="8339327" y="3154680"/>
            <a:ext cx="2843784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6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运动科学</a:t>
            </a:r>
            <a:endParaRPr sz="1600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anim_089"/>
          <p:cNvSpPr txBox="1"/>
          <p:nvPr/>
        </p:nvSpPr>
        <p:spPr>
          <a:xfrm>
            <a:off x="8339327" y="3566160"/>
            <a:ext cx="2843784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20" b="0">
                <a:solidFill>
                  <a:srgbClr val="4C4C4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训练方法</a:t>
            </a:r>
            <a:endParaRPr sz="1020" b="0">
              <a:solidFill>
                <a:srgbClr val="4C4C4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anim_090"/>
          <p:cNvSpPr/>
          <p:nvPr/>
        </p:nvSpPr>
        <p:spPr>
          <a:xfrm>
            <a:off x="640080" y="4069080"/>
            <a:ext cx="3246120" cy="1005840"/>
          </a:xfrm>
          <a:prstGeom prst="rect">
            <a:avLst/>
          </a:prstGeom>
          <a:solidFill>
            <a:srgbClr val="F7F7F1"/>
          </a:solidFill>
          <a:ln w="1016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anim_091"/>
          <p:cNvSpPr txBox="1"/>
          <p:nvPr/>
        </p:nvSpPr>
        <p:spPr>
          <a:xfrm>
            <a:off x="841247" y="4215384"/>
            <a:ext cx="7315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750" b="0">
                <a:solidFill>
                  <a:srgbClr val="0057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04</a:t>
            </a:r>
            <a:endParaRPr sz="750" b="0">
              <a:solidFill>
                <a:srgbClr val="0057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1" name="anim_092"/>
          <p:cNvSpPr txBox="1"/>
          <p:nvPr/>
        </p:nvSpPr>
        <p:spPr>
          <a:xfrm>
            <a:off x="841247" y="4480560"/>
            <a:ext cx="2843784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6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心理学</a:t>
            </a:r>
            <a:endParaRPr sz="1600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anim_093"/>
          <p:cNvSpPr txBox="1"/>
          <p:nvPr/>
        </p:nvSpPr>
        <p:spPr>
          <a:xfrm>
            <a:off x="841247" y="4892040"/>
            <a:ext cx="2843784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20" b="0">
                <a:solidFill>
                  <a:srgbClr val="4C4C4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降低阻力</a:t>
            </a:r>
            <a:endParaRPr sz="1020" b="0">
              <a:solidFill>
                <a:srgbClr val="4C4C4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anim_094"/>
          <p:cNvSpPr/>
          <p:nvPr/>
        </p:nvSpPr>
        <p:spPr>
          <a:xfrm>
            <a:off x="4389120" y="4069080"/>
            <a:ext cx="3246120" cy="1005840"/>
          </a:xfrm>
          <a:prstGeom prst="rect">
            <a:avLst/>
          </a:prstGeom>
          <a:solidFill>
            <a:srgbClr val="F7F7F1"/>
          </a:solidFill>
          <a:ln w="1016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anim_095"/>
          <p:cNvSpPr txBox="1"/>
          <p:nvPr/>
        </p:nvSpPr>
        <p:spPr>
          <a:xfrm>
            <a:off x="4590288" y="4215384"/>
            <a:ext cx="7315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750" b="0">
                <a:solidFill>
                  <a:srgbClr val="0057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05</a:t>
            </a:r>
            <a:endParaRPr sz="750" b="0">
              <a:solidFill>
                <a:srgbClr val="0057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5" name="anim_096"/>
          <p:cNvSpPr txBox="1"/>
          <p:nvPr/>
        </p:nvSpPr>
        <p:spPr>
          <a:xfrm>
            <a:off x="4590288" y="4480560"/>
            <a:ext cx="2843784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6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环境</a:t>
            </a:r>
            <a:endParaRPr sz="1600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anim_097"/>
          <p:cNvSpPr txBox="1"/>
          <p:nvPr/>
        </p:nvSpPr>
        <p:spPr>
          <a:xfrm>
            <a:off x="4590288" y="4892040"/>
            <a:ext cx="2843784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20" b="0">
                <a:solidFill>
                  <a:srgbClr val="4C4C4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改变默认值</a:t>
            </a:r>
            <a:endParaRPr sz="1020" b="0">
              <a:solidFill>
                <a:srgbClr val="4C4C4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anim_098"/>
          <p:cNvSpPr/>
          <p:nvPr/>
        </p:nvSpPr>
        <p:spPr>
          <a:xfrm>
            <a:off x="8138159" y="4069080"/>
            <a:ext cx="3246120" cy="1005840"/>
          </a:xfrm>
          <a:prstGeom prst="rect">
            <a:avLst/>
          </a:prstGeom>
          <a:solidFill>
            <a:srgbClr val="0057FF"/>
          </a:solidFill>
          <a:ln w="10160">
            <a:solidFill>
              <a:srgbClr val="005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anim_099"/>
          <p:cNvSpPr txBox="1"/>
          <p:nvPr/>
        </p:nvSpPr>
        <p:spPr>
          <a:xfrm>
            <a:off x="8339327" y="4215384"/>
            <a:ext cx="7315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750" b="0">
                <a:solidFill>
                  <a:srgbClr val="11111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06</a:t>
            </a:r>
            <a:endParaRPr sz="750" b="0">
              <a:solidFill>
                <a:srgbClr val="11111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9" name="anim_100"/>
          <p:cNvSpPr txBox="1"/>
          <p:nvPr/>
        </p:nvSpPr>
        <p:spPr>
          <a:xfrm>
            <a:off x="8339327" y="4480560"/>
            <a:ext cx="2843784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6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陪伴</a:t>
            </a:r>
            <a:endParaRPr sz="1600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anim_101"/>
          <p:cNvSpPr txBox="1"/>
          <p:nvPr/>
        </p:nvSpPr>
        <p:spPr>
          <a:xfrm>
            <a:off x="8339327" y="4892040"/>
            <a:ext cx="2843784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20" b="0">
                <a:solidFill>
                  <a:srgbClr val="4C4C4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持续反馈</a:t>
            </a:r>
            <a:endParaRPr sz="1020" b="0">
              <a:solidFill>
                <a:srgbClr val="4C4C4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49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6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8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0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24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4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98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18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8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2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7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26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68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0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74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34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688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38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810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42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940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46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078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50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2240"/>
                            </p:stCondLst>
                            <p:childTnLst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1040"/>
                                  </p:stCondLst>
                                  <p:childTnLst>
                                    <p:set>
                                      <p:cBhvr>
                                        <p:cTn id="54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3780"/>
                            </p:stCondLst>
                            <p:childTnLst>
                              <p:par>
                                <p:cTn id="57" presetID="10" presetClass="entr" presetSubtype="0" fill="hold" grpId="0" nodeType="after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58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5380"/>
                            </p:stCondLst>
                            <p:childTnLst>
                              <p:par>
                                <p:cTn id="61" presetID="10" presetClass="entr" presetSubtype="0" fill="hold" grpId="0" nodeType="after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62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698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66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18580"/>
                            </p:stCondLst>
                            <p:childTnLst>
                              <p:par>
                                <p:cTn id="69" presetID="10" presetClass="entr" presetSubtype="0" fill="hold" grpId="0" nodeType="after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70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20180"/>
                            </p:stCondLst>
                            <p:childTnLst>
                              <p:par>
                                <p:cTn id="73" presetID="10" presetClass="entr" presetSubtype="0" fill="hold" grpId="0" nodeType="after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74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21780"/>
                            </p:stCondLst>
                            <p:childTnLst>
                              <p:par>
                                <p:cTn id="77" presetID="10" presetClass="entr" presetSubtype="0" fill="hold" grpId="0" nodeType="after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78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23380"/>
                            </p:stCondLst>
                            <p:childTnLst>
                              <p:par>
                                <p:cTn id="81" presetID="10" presetClass="entr" presetSubtype="0" fill="hold" grpId="0" nodeType="after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82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2498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86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26580"/>
                            </p:stCondLst>
                            <p:childTnLst>
                              <p:par>
                                <p:cTn id="89" presetID="10" presetClass="entr" presetSubtype="0" fill="hold" grpId="0" nodeType="after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90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28180"/>
                            </p:stCondLst>
                            <p:childTnLst>
                              <p:par>
                                <p:cTn id="93" presetID="10" presetClass="entr" presetSubtype="0" fill="hold" grpId="0" nodeType="after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94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29780"/>
                            </p:stCondLst>
                            <p:childTnLst>
                              <p:par>
                                <p:cTn id="97" presetID="10" presetClass="entr" presetSubtype="0" fill="hold" grpId="0" nodeType="after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98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31380"/>
                            </p:stCondLst>
                            <p:childTnLst>
                              <p:par>
                                <p:cTn id="101" presetID="10" presetClass="entr" presetSubtype="0" fill="hold" grpId="0" nodeType="after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102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3298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106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 animBg="1"/>
      <p:bldP spid="8" grpId="0"/>
      <p:bldP spid="9" grpId="0"/>
      <p:bldP spid="10" grpId="0"/>
      <p:bldP spid="11" grpId="0" animBg="1"/>
      <p:bldP spid="12" grpId="0"/>
      <p:bldP spid="13" grpId="0"/>
      <p:bldP spid="14" grpId="0"/>
      <p:bldP spid="15" grpId="0" animBg="1"/>
      <p:bldP spid="16" grpId="0"/>
      <p:bldP spid="17" grpId="0"/>
      <p:bldP spid="18" grpId="0"/>
      <p:bldP spid="19" grpId="0" animBg="1"/>
      <p:bldP spid="20" grpId="0"/>
      <p:bldP spid="21" grpId="0"/>
      <p:bldP spid="22" grpId="0"/>
      <p:bldP spid="23" grpId="0" animBg="1"/>
      <p:bldP spid="24" grpId="0"/>
      <p:bldP spid="25" grpId="0"/>
      <p:bldP spid="26" grpId="0"/>
      <p:bldP spid="27" grpId="0" animBg="1"/>
      <p:bldP spid="28" grpId="0"/>
      <p:bldP spid="29" grpId="0"/>
      <p:bldP spid="3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56692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750" b="0">
                <a:solidFill>
                  <a:srgbClr val="11111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10 / 21 · ENVIRONMENT</a:t>
            </a:r>
            <a:endParaRPr sz="750" b="0">
              <a:solidFill>
                <a:srgbClr val="11111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869680" y="292608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4000"/>
              </a:lnSpc>
            </a:pPr>
            <a:r>
              <a:rPr sz="750" b="0">
                <a:solidFill>
                  <a:srgbClr val="11111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DESIGN DEFAULTS</a:t>
            </a:r>
            <a:endParaRPr sz="750" b="0">
              <a:solidFill>
                <a:srgbClr val="11111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594360" y="612648"/>
            <a:ext cx="11000232" cy="0"/>
          </a:xfrm>
          <a:prstGeom prst="line">
            <a:avLst/>
          </a:prstGeom>
          <a:ln w="4445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anim_102"/>
          <p:cNvSpPr txBox="1"/>
          <p:nvPr/>
        </p:nvSpPr>
        <p:spPr>
          <a:xfrm>
            <a:off x="594360" y="987552"/>
            <a:ext cx="5029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800" b="1">
                <a:solidFill>
                  <a:srgbClr val="0057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ENVIRONMENT</a:t>
            </a:r>
            <a:endParaRPr sz="800" b="1">
              <a:solidFill>
                <a:srgbClr val="0057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" name="anim_103"/>
          <p:cNvSpPr txBox="1"/>
          <p:nvPr/>
        </p:nvSpPr>
        <p:spPr>
          <a:xfrm>
            <a:off x="594360" y="1316736"/>
            <a:ext cx="10607040" cy="10789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36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环境会替你做决定。</a:t>
            </a:r>
            <a:endParaRPr sz="360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anim_104"/>
          <p:cNvSpPr/>
          <p:nvPr/>
        </p:nvSpPr>
        <p:spPr>
          <a:xfrm>
            <a:off x="640080" y="2743200"/>
            <a:ext cx="4023360" cy="566928"/>
          </a:xfrm>
          <a:prstGeom prst="rect">
            <a:avLst/>
          </a:prstGeom>
          <a:solidFill>
            <a:srgbClr val="F7F7F1"/>
          </a:solidFill>
          <a:ln w="889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anim_105"/>
          <p:cNvSpPr txBox="1"/>
          <p:nvPr/>
        </p:nvSpPr>
        <p:spPr>
          <a:xfrm>
            <a:off x="804671" y="2834640"/>
            <a:ext cx="369417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看见理由</a:t>
            </a:r>
            <a:endParaRPr sz="1150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anim_106"/>
          <p:cNvSpPr txBox="1"/>
          <p:nvPr/>
        </p:nvSpPr>
        <p:spPr>
          <a:xfrm>
            <a:off x="804671" y="3090672"/>
            <a:ext cx="369417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80" b="0">
                <a:solidFill>
                  <a:srgbClr val="3E3E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知道运动在修复身体和情绪。</a:t>
            </a:r>
            <a:endParaRPr sz="780" b="0">
              <a:solidFill>
                <a:srgbClr val="3E3E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anim_107"/>
          <p:cNvSpPr/>
          <p:nvPr/>
        </p:nvSpPr>
        <p:spPr>
          <a:xfrm>
            <a:off x="640080" y="3493008"/>
            <a:ext cx="4023360" cy="566928"/>
          </a:xfrm>
          <a:prstGeom prst="rect">
            <a:avLst/>
          </a:prstGeom>
          <a:solidFill>
            <a:srgbClr val="F7F7F1"/>
          </a:solidFill>
          <a:ln w="889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anim_108"/>
          <p:cNvSpPr txBox="1"/>
          <p:nvPr/>
        </p:nvSpPr>
        <p:spPr>
          <a:xfrm>
            <a:off x="804671" y="3584448"/>
            <a:ext cx="369417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降低门槛</a:t>
            </a:r>
            <a:endParaRPr sz="1150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anim_109"/>
          <p:cNvSpPr txBox="1"/>
          <p:nvPr/>
        </p:nvSpPr>
        <p:spPr>
          <a:xfrm>
            <a:off x="804671" y="3840480"/>
            <a:ext cx="369417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80" b="0">
                <a:solidFill>
                  <a:srgbClr val="3E3E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先轻松完成，再逐渐增加。</a:t>
            </a:r>
            <a:endParaRPr sz="780" b="0">
              <a:solidFill>
                <a:srgbClr val="3E3E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anim_110"/>
          <p:cNvSpPr/>
          <p:nvPr/>
        </p:nvSpPr>
        <p:spPr>
          <a:xfrm>
            <a:off x="640080" y="4242816"/>
            <a:ext cx="4023360" cy="566928"/>
          </a:xfrm>
          <a:prstGeom prst="rect">
            <a:avLst/>
          </a:prstGeom>
          <a:solidFill>
            <a:srgbClr val="F7F7F1"/>
          </a:solidFill>
          <a:ln w="889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anim_111"/>
          <p:cNvSpPr txBox="1"/>
          <p:nvPr/>
        </p:nvSpPr>
        <p:spPr>
          <a:xfrm>
            <a:off x="804671" y="4334255"/>
            <a:ext cx="369417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获得反馈</a:t>
            </a:r>
            <a:endParaRPr sz="1150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anim_112"/>
          <p:cNvSpPr txBox="1"/>
          <p:nvPr/>
        </p:nvSpPr>
        <p:spPr>
          <a:xfrm>
            <a:off x="804671" y="4590288"/>
            <a:ext cx="369417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80" b="0">
                <a:solidFill>
                  <a:srgbClr val="3E3E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每天有记录，有回应。</a:t>
            </a:r>
            <a:endParaRPr sz="780" b="0">
              <a:solidFill>
                <a:srgbClr val="3E3E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anim_113"/>
          <p:cNvSpPr/>
          <p:nvPr/>
        </p:nvSpPr>
        <p:spPr>
          <a:xfrm>
            <a:off x="640080" y="4992624"/>
            <a:ext cx="4023360" cy="566928"/>
          </a:xfrm>
          <a:prstGeom prst="rect">
            <a:avLst/>
          </a:prstGeom>
          <a:solidFill>
            <a:srgbClr val="0057FF"/>
          </a:solidFill>
          <a:ln w="8890">
            <a:solidFill>
              <a:srgbClr val="005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anim_114"/>
          <p:cNvSpPr txBox="1"/>
          <p:nvPr/>
        </p:nvSpPr>
        <p:spPr>
          <a:xfrm>
            <a:off x="804671" y="5084064"/>
            <a:ext cx="369417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形成身份</a:t>
            </a:r>
            <a:endParaRPr sz="1150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anim_115"/>
          <p:cNvSpPr txBox="1"/>
          <p:nvPr/>
        </p:nvSpPr>
        <p:spPr>
          <a:xfrm>
            <a:off x="804671" y="5340096"/>
            <a:ext cx="369417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80" b="0">
                <a:solidFill>
                  <a:srgbClr val="3E3E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你是正在变好的人。</a:t>
            </a:r>
            <a:endParaRPr sz="780" b="0">
              <a:solidFill>
                <a:srgbClr val="3E3E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5257800" y="1691640"/>
            <a:ext cx="6263640" cy="4343400"/>
          </a:xfrm>
          <a:prstGeom prst="rect">
            <a:avLst/>
          </a:prstGeom>
          <a:solidFill>
            <a:srgbClr val="F7F7F1"/>
          </a:solidFill>
          <a:ln w="889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anim_116"/>
          <p:cNvSpPr/>
          <p:nvPr/>
        </p:nvSpPr>
        <p:spPr>
          <a:xfrm>
            <a:off x="5532120" y="1920240"/>
            <a:ext cx="5715000" cy="713232"/>
          </a:xfrm>
          <a:prstGeom prst="rect">
            <a:avLst/>
          </a:prstGeom>
          <a:solidFill>
            <a:srgbClr val="0057FF"/>
          </a:solidFill>
          <a:ln w="8890">
            <a:solidFill>
              <a:srgbClr val="005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anim_117"/>
          <p:cNvSpPr txBox="1"/>
          <p:nvPr/>
        </p:nvSpPr>
        <p:spPr>
          <a:xfrm>
            <a:off x="5696712" y="2011680"/>
            <a:ext cx="5029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680" b="0">
                <a:solidFill>
                  <a:srgbClr val="11111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ENV</a:t>
            </a:r>
            <a:endParaRPr sz="680" b="0">
              <a:solidFill>
                <a:srgbClr val="11111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2" name="anim_118"/>
          <p:cNvSpPr txBox="1"/>
          <p:nvPr/>
        </p:nvSpPr>
        <p:spPr>
          <a:xfrm>
            <a:off x="6245352" y="2011680"/>
            <a:ext cx="48463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环境会替你做决定</a:t>
            </a:r>
            <a:endParaRPr sz="1150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anim_119"/>
          <p:cNvSpPr txBox="1"/>
          <p:nvPr/>
        </p:nvSpPr>
        <p:spPr>
          <a:xfrm>
            <a:off x="6245352" y="2267712"/>
            <a:ext cx="484632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80" b="0">
                <a:solidFill>
                  <a:srgbClr val="3E3E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真正的系统，会把好选择放到你每天都会经过的地方。</a:t>
            </a:r>
            <a:endParaRPr sz="780" b="0">
              <a:solidFill>
                <a:srgbClr val="3E3E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anim_120"/>
          <p:cNvSpPr/>
          <p:nvPr/>
        </p:nvSpPr>
        <p:spPr>
          <a:xfrm>
            <a:off x="5532120" y="2788920"/>
            <a:ext cx="5715000" cy="530352"/>
          </a:xfrm>
          <a:prstGeom prst="rect">
            <a:avLst/>
          </a:prstGeom>
          <a:solidFill>
            <a:srgbClr val="F7F7F1"/>
          </a:solidFill>
          <a:ln w="889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anim_121"/>
          <p:cNvSpPr txBox="1"/>
          <p:nvPr/>
        </p:nvSpPr>
        <p:spPr>
          <a:xfrm>
            <a:off x="5696712" y="2880360"/>
            <a:ext cx="5029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680" b="0">
                <a:solidFill>
                  <a:srgbClr val="0057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01</a:t>
            </a:r>
            <a:endParaRPr sz="680" b="0">
              <a:solidFill>
                <a:srgbClr val="0057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6" name="anim_122"/>
          <p:cNvSpPr txBox="1"/>
          <p:nvPr/>
        </p:nvSpPr>
        <p:spPr>
          <a:xfrm>
            <a:off x="6245352" y="2880360"/>
            <a:ext cx="48463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生活空间</a:t>
            </a:r>
            <a:endParaRPr sz="1150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anim_123"/>
          <p:cNvSpPr txBox="1"/>
          <p:nvPr/>
        </p:nvSpPr>
        <p:spPr>
          <a:xfrm>
            <a:off x="6245352" y="3136391"/>
            <a:ext cx="4846320" cy="1463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80" b="0">
                <a:solidFill>
                  <a:srgbClr val="3E3E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家里、办公室、通勤路线。</a:t>
            </a:r>
            <a:endParaRPr sz="780" b="0">
              <a:solidFill>
                <a:srgbClr val="3E3E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anim_124"/>
          <p:cNvSpPr/>
          <p:nvPr/>
        </p:nvSpPr>
        <p:spPr>
          <a:xfrm>
            <a:off x="5532120" y="3483863"/>
            <a:ext cx="5715000" cy="530352"/>
          </a:xfrm>
          <a:prstGeom prst="rect">
            <a:avLst/>
          </a:prstGeom>
          <a:solidFill>
            <a:srgbClr val="F7F7F1"/>
          </a:solidFill>
          <a:ln w="889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anim_125"/>
          <p:cNvSpPr txBox="1"/>
          <p:nvPr/>
        </p:nvSpPr>
        <p:spPr>
          <a:xfrm>
            <a:off x="5696712" y="3575303"/>
            <a:ext cx="5029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680" b="0">
                <a:solidFill>
                  <a:srgbClr val="0057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02</a:t>
            </a:r>
            <a:endParaRPr sz="680" b="0">
              <a:solidFill>
                <a:srgbClr val="0057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0" name="anim_126"/>
          <p:cNvSpPr txBox="1"/>
          <p:nvPr/>
        </p:nvSpPr>
        <p:spPr>
          <a:xfrm>
            <a:off x="6245352" y="3575303"/>
            <a:ext cx="48463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身边的人</a:t>
            </a:r>
            <a:endParaRPr sz="1150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anim_127"/>
          <p:cNvSpPr txBox="1"/>
          <p:nvPr/>
        </p:nvSpPr>
        <p:spPr>
          <a:xfrm>
            <a:off x="6245352" y="3831335"/>
            <a:ext cx="4846320" cy="1463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80" b="0">
                <a:solidFill>
                  <a:srgbClr val="3E3E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每天和谁在一起。</a:t>
            </a:r>
            <a:endParaRPr sz="780" b="0">
              <a:solidFill>
                <a:srgbClr val="3E3E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anim_128"/>
          <p:cNvSpPr/>
          <p:nvPr/>
        </p:nvSpPr>
        <p:spPr>
          <a:xfrm>
            <a:off x="5532120" y="4178808"/>
            <a:ext cx="5715000" cy="530352"/>
          </a:xfrm>
          <a:prstGeom prst="rect">
            <a:avLst/>
          </a:prstGeom>
          <a:solidFill>
            <a:srgbClr val="F7F7F1"/>
          </a:solidFill>
          <a:ln w="889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anim_129"/>
          <p:cNvSpPr txBox="1"/>
          <p:nvPr/>
        </p:nvSpPr>
        <p:spPr>
          <a:xfrm>
            <a:off x="5696712" y="4270248"/>
            <a:ext cx="5029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680" b="0">
                <a:solidFill>
                  <a:srgbClr val="0057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03</a:t>
            </a:r>
            <a:endParaRPr sz="680" b="0">
              <a:solidFill>
                <a:srgbClr val="0057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4" name="anim_130"/>
          <p:cNvSpPr txBox="1"/>
          <p:nvPr/>
        </p:nvSpPr>
        <p:spPr>
          <a:xfrm>
            <a:off x="6245352" y="4270248"/>
            <a:ext cx="48463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每日信息</a:t>
            </a:r>
            <a:endParaRPr sz="1150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anim_131"/>
          <p:cNvSpPr txBox="1"/>
          <p:nvPr/>
        </p:nvSpPr>
        <p:spPr>
          <a:xfrm>
            <a:off x="6245352" y="4526280"/>
            <a:ext cx="4846320" cy="1463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80" b="0">
                <a:solidFill>
                  <a:srgbClr val="3E3E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反复接触什么内容。</a:t>
            </a:r>
            <a:endParaRPr sz="780" b="0">
              <a:solidFill>
                <a:srgbClr val="3E3E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anim_132"/>
          <p:cNvSpPr/>
          <p:nvPr/>
        </p:nvSpPr>
        <p:spPr>
          <a:xfrm>
            <a:off x="5532120" y="4873752"/>
            <a:ext cx="5715000" cy="530352"/>
          </a:xfrm>
          <a:prstGeom prst="rect">
            <a:avLst/>
          </a:prstGeom>
          <a:solidFill>
            <a:srgbClr val="F7F7F1"/>
          </a:solidFill>
          <a:ln w="889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anim_133"/>
          <p:cNvSpPr txBox="1"/>
          <p:nvPr/>
        </p:nvSpPr>
        <p:spPr>
          <a:xfrm>
            <a:off x="5696712" y="4965192"/>
            <a:ext cx="5029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680" b="0">
                <a:solidFill>
                  <a:srgbClr val="0057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04</a:t>
            </a:r>
            <a:endParaRPr sz="680" b="0">
              <a:solidFill>
                <a:srgbClr val="0057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8" name="anim_134"/>
          <p:cNvSpPr txBox="1"/>
          <p:nvPr/>
        </p:nvSpPr>
        <p:spPr>
          <a:xfrm>
            <a:off x="6245352" y="4965192"/>
            <a:ext cx="48463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即时反馈</a:t>
            </a:r>
            <a:endParaRPr sz="1150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anim_135"/>
          <p:cNvSpPr txBox="1"/>
          <p:nvPr/>
        </p:nvSpPr>
        <p:spPr>
          <a:xfrm>
            <a:off x="6245352" y="5221224"/>
            <a:ext cx="4846320" cy="1463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80" b="0">
                <a:solidFill>
                  <a:srgbClr val="3E3E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有没有提醒、回应和鼓励。</a:t>
            </a:r>
            <a:endParaRPr sz="780" b="0">
              <a:solidFill>
                <a:srgbClr val="3E3E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49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6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8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0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24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4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98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18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8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2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7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26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68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0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74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34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688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38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810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42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940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46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078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50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2240"/>
                            </p:stCondLst>
                            <p:childTnLst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1040"/>
                                  </p:stCondLst>
                                  <p:childTnLst>
                                    <p:set>
                                      <p:cBhvr>
                                        <p:cTn id="54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3780"/>
                            </p:stCondLst>
                            <p:childTnLst>
                              <p:par>
                                <p:cTn id="57" presetID="10" presetClass="entr" presetSubtype="0" fill="hold" grpId="0" nodeType="after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58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5380"/>
                            </p:stCondLst>
                            <p:childTnLst>
                              <p:par>
                                <p:cTn id="61" presetID="10" presetClass="entr" presetSubtype="0" fill="hold" grpId="0" nodeType="after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62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698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66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18580"/>
                            </p:stCondLst>
                            <p:childTnLst>
                              <p:par>
                                <p:cTn id="69" presetID="10" presetClass="entr" presetSubtype="0" fill="hold" grpId="0" nodeType="after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70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20180"/>
                            </p:stCondLst>
                            <p:childTnLst>
                              <p:par>
                                <p:cTn id="73" presetID="10" presetClass="entr" presetSubtype="0" fill="hold" grpId="0" nodeType="after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74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21780"/>
                            </p:stCondLst>
                            <p:childTnLst>
                              <p:par>
                                <p:cTn id="77" presetID="10" presetClass="entr" presetSubtype="0" fill="hold" grpId="0" nodeType="after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78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23380"/>
                            </p:stCondLst>
                            <p:childTnLst>
                              <p:par>
                                <p:cTn id="81" presetID="10" presetClass="entr" presetSubtype="0" fill="hold" grpId="0" nodeType="after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82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2498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86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26580"/>
                            </p:stCondLst>
                            <p:childTnLst>
                              <p:par>
                                <p:cTn id="89" presetID="10" presetClass="entr" presetSubtype="0" fill="hold" grpId="0" nodeType="after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90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28180"/>
                            </p:stCondLst>
                            <p:childTnLst>
                              <p:par>
                                <p:cTn id="93" presetID="10" presetClass="entr" presetSubtype="0" fill="hold" grpId="0" nodeType="after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94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29780"/>
                            </p:stCondLst>
                            <p:childTnLst>
                              <p:par>
                                <p:cTn id="97" presetID="10" presetClass="entr" presetSubtype="0" fill="hold" grpId="0" nodeType="after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98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31380"/>
                            </p:stCondLst>
                            <p:childTnLst>
                              <p:par>
                                <p:cTn id="101" presetID="10" presetClass="entr" presetSubtype="0" fill="hold" grpId="0" nodeType="after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102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3298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106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34580"/>
                            </p:stCondLst>
                            <p:childTnLst>
                              <p:par>
                                <p:cTn id="109" presetID="10" presetClass="entr" presetSubtype="0" fill="hold" grpId="0" nodeType="after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110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36180"/>
                            </p:stCondLst>
                            <p:childTnLst>
                              <p:par>
                                <p:cTn id="113" presetID="10" presetClass="entr" presetSubtype="0" fill="hold" grpId="0" nodeType="after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114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37780"/>
                            </p:stCondLst>
                            <p:childTnLst>
                              <p:par>
                                <p:cTn id="117" presetID="10" presetClass="entr" presetSubtype="0" fill="hold" grpId="0" nodeType="after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118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39380"/>
                            </p:stCondLst>
                            <p:childTnLst>
                              <p:par>
                                <p:cTn id="121" presetID="10" presetClass="entr" presetSubtype="0" fill="hold" grpId="0" nodeType="after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122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40980"/>
                            </p:stCondLst>
                            <p:childTnLst>
                              <p:par>
                                <p:cTn id="125" presetID="10" presetClass="entr" presetSubtype="0" fill="hold" grpId="0" nodeType="after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126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>
                            <p:stCondLst>
                              <p:cond delay="42580"/>
                            </p:stCondLst>
                            <p:childTnLst>
                              <p:par>
                                <p:cTn id="129" presetID="10" presetClass="entr" presetSubtype="0" fill="hold" grpId="0" nodeType="after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130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3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>
                            <p:stCondLst>
                              <p:cond delay="44180"/>
                            </p:stCondLst>
                            <p:childTnLst>
                              <p:par>
                                <p:cTn id="133" presetID="10" presetClass="entr" presetSubtype="0" fill="hold" grpId="0" nodeType="after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134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3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" fill="hold">
                            <p:stCondLst>
                              <p:cond delay="45780"/>
                            </p:stCondLst>
                            <p:childTnLst>
                              <p:par>
                                <p:cTn id="137" presetID="10" presetClass="entr" presetSubtype="0" fill="hold" grpId="0" nodeType="after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138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3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 animBg="1"/>
      <p:bldP spid="8" grpId="0"/>
      <p:bldP spid="9" grpId="0"/>
      <p:bldP spid="10" grpId="0" animBg="1"/>
      <p:bldP spid="11" grpId="0"/>
      <p:bldP spid="12" grpId="0"/>
      <p:bldP spid="13" grpId="0" animBg="1"/>
      <p:bldP spid="14" grpId="0"/>
      <p:bldP spid="15" grpId="0"/>
      <p:bldP spid="16" grpId="0" animBg="1"/>
      <p:bldP spid="17" grpId="0"/>
      <p:bldP spid="18" grpId="0"/>
      <p:bldP spid="20" grpId="0" animBg="1"/>
      <p:bldP spid="21" grpId="0"/>
      <p:bldP spid="22" grpId="0"/>
      <p:bldP spid="23" grpId="0"/>
      <p:bldP spid="24" grpId="0" animBg="1"/>
      <p:bldP spid="25" grpId="0"/>
      <p:bldP spid="26" grpId="0"/>
      <p:bldP spid="27" grpId="0"/>
      <p:bldP spid="28" grpId="0" animBg="1"/>
      <p:bldP spid="29" grpId="0"/>
      <p:bldP spid="30" grpId="0"/>
      <p:bldP spid="31" grpId="0"/>
      <p:bldP spid="32" grpId="0" animBg="1"/>
      <p:bldP spid="33" grpId="0"/>
      <p:bldP spid="34" grpId="0"/>
      <p:bldP spid="35" grpId="0"/>
      <p:bldP spid="36" grpId="0" animBg="1"/>
      <p:bldP spid="37" grpId="0"/>
      <p:bldP spid="38" grpId="0"/>
      <p:bldP spid="3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56692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750" b="0">
                <a:solidFill>
                  <a:srgbClr val="11111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11 / 21 · WHY US</a:t>
            </a:r>
            <a:endParaRPr sz="750" b="0">
              <a:solidFill>
                <a:srgbClr val="11111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869680" y="292608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4000"/>
              </a:lnSpc>
            </a:pPr>
            <a:r>
              <a:rPr sz="750" b="0">
                <a:solidFill>
                  <a:srgbClr val="11111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REAL BASIS</a:t>
            </a:r>
            <a:endParaRPr sz="750" b="0">
              <a:solidFill>
                <a:srgbClr val="11111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594360" y="612648"/>
            <a:ext cx="11000232" cy="0"/>
          </a:xfrm>
          <a:prstGeom prst="line">
            <a:avLst/>
          </a:prstGeom>
          <a:ln w="4445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594360" y="914400"/>
            <a:ext cx="4572000" cy="5257800"/>
          </a:xfrm>
          <a:prstGeom prst="rect">
            <a:avLst/>
          </a:prstGeom>
          <a:solidFill>
            <a:srgbClr val="111111"/>
          </a:solidFill>
          <a:ln w="889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anim_136"/>
          <p:cNvSpPr txBox="1"/>
          <p:nvPr/>
        </p:nvSpPr>
        <p:spPr>
          <a:xfrm>
            <a:off x="868680" y="1325880"/>
            <a:ext cx="3840480" cy="1508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4000"/>
              </a:lnSpc>
            </a:pPr>
            <a:r>
              <a:rPr sz="29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可信任的系统，
必须有两种能力。</a:t>
            </a:r>
            <a:endParaRPr sz="290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anim_137"/>
          <p:cNvSpPr txBox="1"/>
          <p:nvPr/>
        </p:nvSpPr>
        <p:spPr>
          <a:xfrm>
            <a:off x="896112" y="4846320"/>
            <a:ext cx="36576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3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一边是专业边界，一边是把复杂知识变成普通人愿意每天做的体验。</a:t>
            </a:r>
            <a:endParaRPr sz="130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anim_138"/>
          <p:cNvSpPr/>
          <p:nvPr/>
        </p:nvSpPr>
        <p:spPr>
          <a:xfrm>
            <a:off x="5577840" y="914400"/>
            <a:ext cx="5989320" cy="1417320"/>
          </a:xfrm>
          <a:prstGeom prst="rect">
            <a:avLst/>
          </a:prstGeom>
          <a:solidFill>
            <a:srgbClr val="F7F7F1"/>
          </a:solidFill>
          <a:ln w="1016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anim_139"/>
          <p:cNvSpPr txBox="1"/>
          <p:nvPr/>
        </p:nvSpPr>
        <p:spPr>
          <a:xfrm>
            <a:off x="5779007" y="1060704"/>
            <a:ext cx="7315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750" b="0">
                <a:solidFill>
                  <a:srgbClr val="0057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01</a:t>
            </a:r>
            <a:endParaRPr sz="750" b="0">
              <a:solidFill>
                <a:srgbClr val="0057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0" name="anim_140"/>
          <p:cNvSpPr txBox="1"/>
          <p:nvPr/>
        </p:nvSpPr>
        <p:spPr>
          <a:xfrm>
            <a:off x="5779007" y="1325880"/>
            <a:ext cx="5586983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6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杨医生</a:t>
            </a:r>
            <a:endParaRPr sz="1600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anim_141"/>
          <p:cNvSpPr txBox="1"/>
          <p:nvPr/>
        </p:nvSpPr>
        <p:spPr>
          <a:xfrm>
            <a:off x="5779007" y="1737360"/>
            <a:ext cx="5586983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20" b="0">
                <a:solidFill>
                  <a:srgbClr val="4C4C4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原空军主治军医，20年医学、营养学双领域专家。</a:t>
            </a:r>
            <a:endParaRPr sz="1020" b="0">
              <a:solidFill>
                <a:srgbClr val="4C4C4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anim_142"/>
          <p:cNvSpPr/>
          <p:nvPr/>
        </p:nvSpPr>
        <p:spPr>
          <a:xfrm>
            <a:off x="5577840" y="2651760"/>
            <a:ext cx="5989320" cy="1508760"/>
          </a:xfrm>
          <a:prstGeom prst="rect">
            <a:avLst/>
          </a:prstGeom>
          <a:solidFill>
            <a:srgbClr val="F7F7F1"/>
          </a:solidFill>
          <a:ln w="1016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anim_143"/>
          <p:cNvSpPr txBox="1"/>
          <p:nvPr/>
        </p:nvSpPr>
        <p:spPr>
          <a:xfrm>
            <a:off x="5779007" y="2798064"/>
            <a:ext cx="7315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750" b="0">
                <a:solidFill>
                  <a:srgbClr val="0057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02</a:t>
            </a:r>
            <a:endParaRPr sz="750" b="0">
              <a:solidFill>
                <a:srgbClr val="0057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4" name="anim_144"/>
          <p:cNvSpPr txBox="1"/>
          <p:nvPr/>
        </p:nvSpPr>
        <p:spPr>
          <a:xfrm>
            <a:off x="5779007" y="3063240"/>
            <a:ext cx="5586983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6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杨泽言</a:t>
            </a:r>
            <a:endParaRPr sz="1600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anim_145"/>
          <p:cNvSpPr txBox="1"/>
          <p:nvPr/>
        </p:nvSpPr>
        <p:spPr>
          <a:xfrm>
            <a:off x="5779007" y="3474720"/>
            <a:ext cx="5586983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20" b="0">
                <a:solidFill>
                  <a:srgbClr val="4C4C4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10年互联网创业经验，产品经理式系统设计；结合心理学、脑科学与前沿运动科学，把运动变得更轻松。</a:t>
            </a:r>
            <a:endParaRPr sz="1020" b="0">
              <a:solidFill>
                <a:srgbClr val="4C4C4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anim_146"/>
          <p:cNvSpPr/>
          <p:nvPr/>
        </p:nvSpPr>
        <p:spPr>
          <a:xfrm>
            <a:off x="5577840" y="4480560"/>
            <a:ext cx="5989320" cy="1417320"/>
          </a:xfrm>
          <a:prstGeom prst="rect">
            <a:avLst/>
          </a:prstGeom>
          <a:solidFill>
            <a:srgbClr val="0057FF"/>
          </a:solidFill>
          <a:ln w="10160">
            <a:solidFill>
              <a:srgbClr val="005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anim_147"/>
          <p:cNvSpPr txBox="1"/>
          <p:nvPr/>
        </p:nvSpPr>
        <p:spPr>
          <a:xfrm>
            <a:off x="5779007" y="4626864"/>
            <a:ext cx="7315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750" b="0">
                <a:solidFill>
                  <a:srgbClr val="11111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03</a:t>
            </a:r>
            <a:endParaRPr sz="750" b="0">
              <a:solidFill>
                <a:srgbClr val="11111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8" name="anim_148"/>
          <p:cNvSpPr txBox="1"/>
          <p:nvPr/>
        </p:nvSpPr>
        <p:spPr>
          <a:xfrm>
            <a:off x="5779007" y="4892040"/>
            <a:ext cx="5586983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6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上万真实案例</a:t>
            </a:r>
            <a:endParaRPr sz="1600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anim_149"/>
          <p:cNvSpPr txBox="1"/>
          <p:nvPr/>
        </p:nvSpPr>
        <p:spPr>
          <a:xfrm>
            <a:off x="5779007" y="5303520"/>
            <a:ext cx="5586983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20" b="0">
                <a:solidFill>
                  <a:srgbClr val="4C4C4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长期服务真实用户，知道普通人真正卡在哪里。</a:t>
            </a:r>
            <a:endParaRPr sz="1020" b="0">
              <a:solidFill>
                <a:srgbClr val="4C4C4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49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6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8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0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24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4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98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18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8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2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7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26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68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0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74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34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688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38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810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42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940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46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078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50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2240"/>
                            </p:stCondLst>
                            <p:childTnLst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1040"/>
                                  </p:stCondLst>
                                  <p:childTnLst>
                                    <p:set>
                                      <p:cBhvr>
                                        <p:cTn id="54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3780"/>
                            </p:stCondLst>
                            <p:childTnLst>
                              <p:par>
                                <p:cTn id="57" presetID="10" presetClass="entr" presetSubtype="0" fill="hold" grpId="0" nodeType="after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58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 animBg="1"/>
      <p:bldP spid="9" grpId="0"/>
      <p:bldP spid="10" grpId="0"/>
      <p:bldP spid="11" grpId="0"/>
      <p:bldP spid="12" grpId="0" animBg="1"/>
      <p:bldP spid="13" grpId="0"/>
      <p:bldP spid="14" grpId="0"/>
      <p:bldP spid="15" grpId="0"/>
      <p:bldP spid="16" grpId="0" animBg="1"/>
      <p:bldP spid="17" grpId="0"/>
      <p:bldP spid="18" grpId="0"/>
      <p:bldP spid="1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56692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750" b="0">
                <a:solidFill>
                  <a:srgbClr val="11111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12 / 21 · 21 DAYS</a:t>
            </a:r>
            <a:endParaRPr sz="750" b="0">
              <a:solidFill>
                <a:srgbClr val="11111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869680" y="292608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4000"/>
              </a:lnSpc>
            </a:pPr>
            <a:r>
              <a:rPr sz="750" b="0">
                <a:solidFill>
                  <a:srgbClr val="11111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MONTHLY COHORT</a:t>
            </a:r>
            <a:endParaRPr sz="750" b="0">
              <a:solidFill>
                <a:srgbClr val="11111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594360" y="612648"/>
            <a:ext cx="11000232" cy="0"/>
          </a:xfrm>
          <a:prstGeom prst="line">
            <a:avLst/>
          </a:prstGeom>
          <a:ln w="4445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anim_150"/>
          <p:cNvSpPr txBox="1"/>
          <p:nvPr/>
        </p:nvSpPr>
        <p:spPr>
          <a:xfrm>
            <a:off x="594360" y="987552"/>
            <a:ext cx="5029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800" b="1">
                <a:solidFill>
                  <a:srgbClr val="0057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WHY 21 DAYS</a:t>
            </a:r>
            <a:endParaRPr sz="800" b="1">
              <a:solidFill>
                <a:srgbClr val="0057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" name="anim_151"/>
          <p:cNvSpPr txBox="1"/>
          <p:nvPr/>
        </p:nvSpPr>
        <p:spPr>
          <a:xfrm>
            <a:off x="594360" y="1316736"/>
            <a:ext cx="10607040" cy="10789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34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给身体一个完整启动周期。</a:t>
            </a:r>
            <a:endParaRPr sz="340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868680" y="3840480"/>
            <a:ext cx="10332720" cy="0"/>
          </a:xfrm>
          <a:prstGeom prst="line">
            <a:avLst/>
          </a:prstGeom>
          <a:ln w="1270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anim_152"/>
          <p:cNvSpPr/>
          <p:nvPr/>
        </p:nvSpPr>
        <p:spPr>
          <a:xfrm>
            <a:off x="1371600" y="3776472"/>
            <a:ext cx="128016" cy="128016"/>
          </a:xfrm>
          <a:prstGeom prst="ellipse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anim_153"/>
          <p:cNvSpPr txBox="1"/>
          <p:nvPr/>
        </p:nvSpPr>
        <p:spPr>
          <a:xfrm>
            <a:off x="804672" y="2697480"/>
            <a:ext cx="113385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4000"/>
              </a:lnSpc>
            </a:pPr>
            <a:r>
              <a:rPr sz="800" b="1">
                <a:solidFill>
                  <a:srgbClr val="0057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WEEK 1</a:t>
            </a:r>
            <a:endParaRPr sz="800" b="1">
              <a:solidFill>
                <a:srgbClr val="0057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0" name="anim_154"/>
          <p:cNvSpPr txBox="1"/>
          <p:nvPr/>
        </p:nvSpPr>
        <p:spPr>
          <a:xfrm>
            <a:off x="594360" y="2953512"/>
            <a:ext cx="155448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4000"/>
              </a:lnSpc>
            </a:pPr>
            <a:r>
              <a:rPr sz="14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重启认知</a:t>
            </a:r>
            <a:endParaRPr sz="1400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anim_155"/>
          <p:cNvSpPr txBox="1"/>
          <p:nvPr/>
        </p:nvSpPr>
        <p:spPr>
          <a:xfrm>
            <a:off x="502920" y="3355848"/>
            <a:ext cx="17373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4000"/>
              </a:lnSpc>
            </a:pPr>
            <a:r>
              <a:rPr sz="930" b="0">
                <a:solidFill>
                  <a:srgbClr val="4A4A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看见过去为什么失败</a:t>
            </a:r>
            <a:endParaRPr sz="930" b="0">
              <a:solidFill>
                <a:srgbClr val="4A4A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anim_156"/>
          <p:cNvSpPr/>
          <p:nvPr/>
        </p:nvSpPr>
        <p:spPr>
          <a:xfrm>
            <a:off x="4297680" y="3776472"/>
            <a:ext cx="128016" cy="128016"/>
          </a:xfrm>
          <a:prstGeom prst="ellipse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anim_157"/>
          <p:cNvSpPr txBox="1"/>
          <p:nvPr/>
        </p:nvSpPr>
        <p:spPr>
          <a:xfrm>
            <a:off x="3730752" y="4160520"/>
            <a:ext cx="113385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4000"/>
              </a:lnSpc>
            </a:pPr>
            <a:r>
              <a:rPr sz="800" b="1">
                <a:solidFill>
                  <a:srgbClr val="0057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WEEK 2</a:t>
            </a:r>
            <a:endParaRPr sz="800" b="1">
              <a:solidFill>
                <a:srgbClr val="0057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4" name="anim_158"/>
          <p:cNvSpPr txBox="1"/>
          <p:nvPr/>
        </p:nvSpPr>
        <p:spPr>
          <a:xfrm>
            <a:off x="3520440" y="4416552"/>
            <a:ext cx="155448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4000"/>
              </a:lnSpc>
            </a:pPr>
            <a:r>
              <a:rPr sz="14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建立动作</a:t>
            </a:r>
            <a:endParaRPr sz="1400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anim_159"/>
          <p:cNvSpPr txBox="1"/>
          <p:nvPr/>
        </p:nvSpPr>
        <p:spPr>
          <a:xfrm>
            <a:off x="3429000" y="4818888"/>
            <a:ext cx="17373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4000"/>
              </a:lnSpc>
            </a:pPr>
            <a:r>
              <a:rPr sz="930" b="0">
                <a:solidFill>
                  <a:srgbClr val="4A4A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晨练、饮食、睡眠节奏</a:t>
            </a:r>
            <a:endParaRPr sz="930" b="0">
              <a:solidFill>
                <a:srgbClr val="4A4A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anim_160"/>
          <p:cNvSpPr/>
          <p:nvPr/>
        </p:nvSpPr>
        <p:spPr>
          <a:xfrm>
            <a:off x="7223760" y="3776472"/>
            <a:ext cx="128016" cy="128016"/>
          </a:xfrm>
          <a:prstGeom prst="ellipse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anim_161"/>
          <p:cNvSpPr txBox="1"/>
          <p:nvPr/>
        </p:nvSpPr>
        <p:spPr>
          <a:xfrm>
            <a:off x="6656832" y="2697480"/>
            <a:ext cx="113385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4000"/>
              </a:lnSpc>
            </a:pPr>
            <a:r>
              <a:rPr sz="800" b="1">
                <a:solidFill>
                  <a:srgbClr val="0057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WEEK 3</a:t>
            </a:r>
            <a:endParaRPr sz="800" b="1">
              <a:solidFill>
                <a:srgbClr val="0057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8" name="anim_162"/>
          <p:cNvSpPr txBox="1"/>
          <p:nvPr/>
        </p:nvSpPr>
        <p:spPr>
          <a:xfrm>
            <a:off x="6446520" y="2953512"/>
            <a:ext cx="155448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4000"/>
              </a:lnSpc>
            </a:pPr>
            <a:r>
              <a:rPr sz="14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进入生活</a:t>
            </a:r>
            <a:endParaRPr sz="1400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anim_163"/>
          <p:cNvSpPr txBox="1"/>
          <p:nvPr/>
        </p:nvSpPr>
        <p:spPr>
          <a:xfrm>
            <a:off x="6355080" y="3355848"/>
            <a:ext cx="17373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4000"/>
              </a:lnSpc>
            </a:pPr>
            <a:r>
              <a:rPr sz="930" b="0">
                <a:solidFill>
                  <a:srgbClr val="4A4A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让运动变成默认动作</a:t>
            </a:r>
            <a:endParaRPr sz="930" b="0">
              <a:solidFill>
                <a:srgbClr val="4A4A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anim_164"/>
          <p:cNvSpPr/>
          <p:nvPr/>
        </p:nvSpPr>
        <p:spPr>
          <a:xfrm>
            <a:off x="10149840" y="3776472"/>
            <a:ext cx="128016" cy="128016"/>
          </a:xfrm>
          <a:prstGeom prst="ellipse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anim_165"/>
          <p:cNvSpPr txBox="1"/>
          <p:nvPr/>
        </p:nvSpPr>
        <p:spPr>
          <a:xfrm>
            <a:off x="9582912" y="4160520"/>
            <a:ext cx="113385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4000"/>
              </a:lnSpc>
            </a:pPr>
            <a:r>
              <a:rPr sz="800" b="1">
                <a:solidFill>
                  <a:srgbClr val="0057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MONTHLY</a:t>
            </a:r>
            <a:endParaRPr sz="800" b="1">
              <a:solidFill>
                <a:srgbClr val="0057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2" name="anim_166"/>
          <p:cNvSpPr txBox="1"/>
          <p:nvPr/>
        </p:nvSpPr>
        <p:spPr>
          <a:xfrm>
            <a:off x="9372600" y="4416552"/>
            <a:ext cx="155448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4000"/>
              </a:lnSpc>
            </a:pPr>
            <a:r>
              <a:rPr sz="14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每月新一期</a:t>
            </a:r>
            <a:endParaRPr sz="1400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anim_167"/>
          <p:cNvSpPr txBox="1"/>
          <p:nvPr/>
        </p:nvSpPr>
        <p:spPr>
          <a:xfrm>
            <a:off x="9281160" y="4818888"/>
            <a:ext cx="17373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4000"/>
              </a:lnSpc>
            </a:pPr>
            <a:r>
              <a:rPr sz="930" b="0">
                <a:solidFill>
                  <a:srgbClr val="4A4A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首批学员可持续复训</a:t>
            </a:r>
            <a:endParaRPr sz="930" b="0">
              <a:solidFill>
                <a:srgbClr val="4A4A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49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6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8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0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24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4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98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18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8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2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7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26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68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0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74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34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688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38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810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42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940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46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078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50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2240"/>
                            </p:stCondLst>
                            <p:childTnLst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1040"/>
                                  </p:stCondLst>
                                  <p:childTnLst>
                                    <p:set>
                                      <p:cBhvr>
                                        <p:cTn id="54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3780"/>
                            </p:stCondLst>
                            <p:childTnLst>
                              <p:par>
                                <p:cTn id="57" presetID="10" presetClass="entr" presetSubtype="0" fill="hold" grpId="0" nodeType="after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58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5380"/>
                            </p:stCondLst>
                            <p:childTnLst>
                              <p:par>
                                <p:cTn id="61" presetID="10" presetClass="entr" presetSubtype="0" fill="hold" grpId="0" nodeType="after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62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698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66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18580"/>
                            </p:stCondLst>
                            <p:childTnLst>
                              <p:par>
                                <p:cTn id="69" presetID="10" presetClass="entr" presetSubtype="0" fill="hold" grpId="0" nodeType="after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70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20180"/>
                            </p:stCondLst>
                            <p:childTnLst>
                              <p:par>
                                <p:cTn id="73" presetID="10" presetClass="entr" presetSubtype="0" fill="hold" grpId="0" nodeType="after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74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8" grpId="0" animBg="1"/>
      <p:bldP spid="9" grpId="0"/>
      <p:bldP spid="10" grpId="0"/>
      <p:bldP spid="11" grpId="0"/>
      <p:bldP spid="12" grpId="0" animBg="1"/>
      <p:bldP spid="13" grpId="0"/>
      <p:bldP spid="14" grpId="0"/>
      <p:bldP spid="15" grpId="0"/>
      <p:bldP spid="16" grpId="0" animBg="1"/>
      <p:bldP spid="17" grpId="0"/>
      <p:bldP spid="18" grpId="0"/>
      <p:bldP spid="19" grpId="0"/>
      <p:bldP spid="20" grpId="0" animBg="1"/>
      <p:bldP spid="21" grpId="0"/>
      <p:bldP spid="22" grpId="0"/>
      <p:bldP spid="2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56692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750" b="0">
                <a:solidFill>
                  <a:srgbClr val="11111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13 / 21 · DAILY DELIVERY</a:t>
            </a:r>
            <a:endParaRPr sz="750" b="0">
              <a:solidFill>
                <a:srgbClr val="11111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869680" y="292608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4000"/>
              </a:lnSpc>
            </a:pPr>
            <a:r>
              <a:rPr sz="750" b="0">
                <a:solidFill>
                  <a:srgbClr val="11111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21-DAY COHORT</a:t>
            </a:r>
            <a:endParaRPr sz="750" b="0">
              <a:solidFill>
                <a:srgbClr val="11111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594360" y="612648"/>
            <a:ext cx="11000232" cy="0"/>
          </a:xfrm>
          <a:prstGeom prst="line">
            <a:avLst/>
          </a:prstGeom>
          <a:ln w="4445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anim_168"/>
          <p:cNvSpPr txBox="1"/>
          <p:nvPr/>
        </p:nvSpPr>
        <p:spPr>
          <a:xfrm>
            <a:off x="594360" y="987552"/>
            <a:ext cx="5029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800" b="1">
                <a:solidFill>
                  <a:srgbClr val="0057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DELIVERY</a:t>
            </a:r>
            <a:endParaRPr sz="800" b="1">
              <a:solidFill>
                <a:srgbClr val="0057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" name="anim_169"/>
          <p:cNvSpPr txBox="1"/>
          <p:nvPr/>
        </p:nvSpPr>
        <p:spPr>
          <a:xfrm>
            <a:off x="594360" y="1316736"/>
            <a:ext cx="10607040" cy="10789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34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每天早晨，
不再一个人硬撑。</a:t>
            </a:r>
            <a:endParaRPr sz="340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anim_170"/>
          <p:cNvSpPr/>
          <p:nvPr/>
        </p:nvSpPr>
        <p:spPr>
          <a:xfrm>
            <a:off x="640080" y="2743200"/>
            <a:ext cx="3246120" cy="1051560"/>
          </a:xfrm>
          <a:prstGeom prst="rect">
            <a:avLst/>
          </a:prstGeom>
          <a:solidFill>
            <a:srgbClr val="F7F7F1"/>
          </a:solidFill>
          <a:ln w="1016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anim_171"/>
          <p:cNvSpPr txBox="1"/>
          <p:nvPr/>
        </p:nvSpPr>
        <p:spPr>
          <a:xfrm>
            <a:off x="841247" y="2889504"/>
            <a:ext cx="7315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750" b="0">
                <a:solidFill>
                  <a:srgbClr val="0057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01</a:t>
            </a:r>
            <a:endParaRPr sz="750" b="0">
              <a:solidFill>
                <a:srgbClr val="0057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9" name="anim_172"/>
          <p:cNvSpPr txBox="1"/>
          <p:nvPr/>
        </p:nvSpPr>
        <p:spPr>
          <a:xfrm>
            <a:off x="841247" y="3154680"/>
            <a:ext cx="2843784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6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完整课程</a:t>
            </a:r>
            <a:endParaRPr sz="1600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anim_173"/>
          <p:cNvSpPr txBox="1"/>
          <p:nvPr/>
        </p:nvSpPr>
        <p:spPr>
          <a:xfrm>
            <a:off x="841247" y="3566160"/>
            <a:ext cx="2843784" cy="1828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20" b="0">
                <a:solidFill>
                  <a:srgbClr val="4C4C4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医学、营养知识，配合健康系统方法。</a:t>
            </a:r>
            <a:endParaRPr sz="1020" b="0">
              <a:solidFill>
                <a:srgbClr val="4C4C4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anim_174"/>
          <p:cNvSpPr/>
          <p:nvPr/>
        </p:nvSpPr>
        <p:spPr>
          <a:xfrm>
            <a:off x="4389120" y="2743200"/>
            <a:ext cx="3246120" cy="1051560"/>
          </a:xfrm>
          <a:prstGeom prst="rect">
            <a:avLst/>
          </a:prstGeom>
          <a:solidFill>
            <a:srgbClr val="F7F7F1"/>
          </a:solidFill>
          <a:ln w="1016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anim_175"/>
          <p:cNvSpPr txBox="1"/>
          <p:nvPr/>
        </p:nvSpPr>
        <p:spPr>
          <a:xfrm>
            <a:off x="4590288" y="2889504"/>
            <a:ext cx="7315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750" b="0">
                <a:solidFill>
                  <a:srgbClr val="0057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02</a:t>
            </a:r>
            <a:endParaRPr sz="750" b="0">
              <a:solidFill>
                <a:srgbClr val="0057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3" name="anim_176"/>
          <p:cNvSpPr txBox="1"/>
          <p:nvPr/>
        </p:nvSpPr>
        <p:spPr>
          <a:xfrm>
            <a:off x="4590288" y="3154680"/>
            <a:ext cx="2843784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6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21天晨练</a:t>
            </a:r>
            <a:endParaRPr sz="1600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anim_177"/>
          <p:cNvSpPr txBox="1"/>
          <p:nvPr/>
        </p:nvSpPr>
        <p:spPr>
          <a:xfrm>
            <a:off x="4590288" y="3566160"/>
            <a:ext cx="2843784" cy="1828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20" b="0">
                <a:solidFill>
                  <a:srgbClr val="4C4C4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每天早晨陪练，把行动带到完成。</a:t>
            </a:r>
            <a:endParaRPr sz="1020" b="0">
              <a:solidFill>
                <a:srgbClr val="4C4C4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anim_178"/>
          <p:cNvSpPr/>
          <p:nvPr/>
        </p:nvSpPr>
        <p:spPr>
          <a:xfrm>
            <a:off x="8138159" y="2743200"/>
            <a:ext cx="3246120" cy="1051560"/>
          </a:xfrm>
          <a:prstGeom prst="rect">
            <a:avLst/>
          </a:prstGeom>
          <a:solidFill>
            <a:srgbClr val="F7F7F1"/>
          </a:solidFill>
          <a:ln w="1016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anim_179"/>
          <p:cNvSpPr txBox="1"/>
          <p:nvPr/>
        </p:nvSpPr>
        <p:spPr>
          <a:xfrm>
            <a:off x="8339327" y="2889504"/>
            <a:ext cx="7315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750" b="0">
                <a:solidFill>
                  <a:srgbClr val="0057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03</a:t>
            </a:r>
            <a:endParaRPr sz="750" b="0">
              <a:solidFill>
                <a:srgbClr val="0057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7" name="anim_180"/>
          <p:cNvSpPr txBox="1"/>
          <p:nvPr/>
        </p:nvSpPr>
        <p:spPr>
          <a:xfrm>
            <a:off x="8339327" y="3154680"/>
            <a:ext cx="2843784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6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每周三直播</a:t>
            </a:r>
            <a:endParaRPr sz="1600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anim_181"/>
          <p:cNvSpPr txBox="1"/>
          <p:nvPr/>
        </p:nvSpPr>
        <p:spPr>
          <a:xfrm>
            <a:off x="8339327" y="3566160"/>
            <a:ext cx="2843784" cy="1828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20" b="0">
                <a:solidFill>
                  <a:srgbClr val="4C4C4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新内容和校准，不让问题积压。</a:t>
            </a:r>
            <a:endParaRPr sz="1020" b="0">
              <a:solidFill>
                <a:srgbClr val="4C4C4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anim_182"/>
          <p:cNvSpPr/>
          <p:nvPr/>
        </p:nvSpPr>
        <p:spPr>
          <a:xfrm>
            <a:off x="640080" y="4114800"/>
            <a:ext cx="3246120" cy="1051560"/>
          </a:xfrm>
          <a:prstGeom prst="rect">
            <a:avLst/>
          </a:prstGeom>
          <a:solidFill>
            <a:srgbClr val="F7F7F1"/>
          </a:solidFill>
          <a:ln w="1016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anim_183"/>
          <p:cNvSpPr txBox="1"/>
          <p:nvPr/>
        </p:nvSpPr>
        <p:spPr>
          <a:xfrm>
            <a:off x="841247" y="4261104"/>
            <a:ext cx="7315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750" b="0">
                <a:solidFill>
                  <a:srgbClr val="0057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04</a:t>
            </a:r>
            <a:endParaRPr sz="750" b="0">
              <a:solidFill>
                <a:srgbClr val="0057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1" name="anim_184"/>
          <p:cNvSpPr txBox="1"/>
          <p:nvPr/>
        </p:nvSpPr>
        <p:spPr>
          <a:xfrm>
            <a:off x="841247" y="4526280"/>
            <a:ext cx="2843784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6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社群陪伴</a:t>
            </a:r>
            <a:endParaRPr sz="1600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anim_185"/>
          <p:cNvSpPr txBox="1"/>
          <p:nvPr/>
        </p:nvSpPr>
        <p:spPr>
          <a:xfrm>
            <a:off x="841247" y="4937760"/>
            <a:ext cx="2843784" cy="1828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20" b="0">
                <a:solidFill>
                  <a:srgbClr val="4C4C4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打卡、鼓励、提醒，让改变有环境。</a:t>
            </a:r>
            <a:endParaRPr sz="1020" b="0">
              <a:solidFill>
                <a:srgbClr val="4C4C4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anim_186"/>
          <p:cNvSpPr/>
          <p:nvPr/>
        </p:nvSpPr>
        <p:spPr>
          <a:xfrm>
            <a:off x="4389120" y="4114800"/>
            <a:ext cx="3246120" cy="1051560"/>
          </a:xfrm>
          <a:prstGeom prst="rect">
            <a:avLst/>
          </a:prstGeom>
          <a:solidFill>
            <a:srgbClr val="F7F7F1"/>
          </a:solidFill>
          <a:ln w="1016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anim_187"/>
          <p:cNvSpPr txBox="1"/>
          <p:nvPr/>
        </p:nvSpPr>
        <p:spPr>
          <a:xfrm>
            <a:off x="4590288" y="4261104"/>
            <a:ext cx="7315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750" b="0">
                <a:solidFill>
                  <a:srgbClr val="0057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05</a:t>
            </a:r>
            <a:endParaRPr sz="750" b="0">
              <a:solidFill>
                <a:srgbClr val="0057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5" name="anim_188"/>
          <p:cNvSpPr txBox="1"/>
          <p:nvPr/>
        </p:nvSpPr>
        <p:spPr>
          <a:xfrm>
            <a:off x="4590288" y="4526280"/>
            <a:ext cx="2843784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6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班长机制</a:t>
            </a:r>
            <a:endParaRPr sz="1600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anim_189"/>
          <p:cNvSpPr txBox="1"/>
          <p:nvPr/>
        </p:nvSpPr>
        <p:spPr>
          <a:xfrm>
            <a:off x="4590288" y="4937760"/>
            <a:ext cx="2843784" cy="1828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20" b="0">
                <a:solidFill>
                  <a:srgbClr val="4C4C4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有人带动小组，也有人看见你。</a:t>
            </a:r>
            <a:endParaRPr sz="1020" b="0">
              <a:solidFill>
                <a:srgbClr val="4C4C4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anim_190"/>
          <p:cNvSpPr/>
          <p:nvPr/>
        </p:nvSpPr>
        <p:spPr>
          <a:xfrm>
            <a:off x="8138159" y="4114800"/>
            <a:ext cx="3246120" cy="1051560"/>
          </a:xfrm>
          <a:prstGeom prst="rect">
            <a:avLst/>
          </a:prstGeom>
          <a:solidFill>
            <a:srgbClr val="0057FF"/>
          </a:solidFill>
          <a:ln w="10160">
            <a:solidFill>
              <a:srgbClr val="005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anim_191"/>
          <p:cNvSpPr txBox="1"/>
          <p:nvPr/>
        </p:nvSpPr>
        <p:spPr>
          <a:xfrm>
            <a:off x="8339327" y="4261104"/>
            <a:ext cx="7315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750" b="0">
                <a:solidFill>
                  <a:srgbClr val="11111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06</a:t>
            </a:r>
            <a:endParaRPr sz="750" b="0">
              <a:solidFill>
                <a:srgbClr val="11111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9" name="anim_192"/>
          <p:cNvSpPr txBox="1"/>
          <p:nvPr/>
        </p:nvSpPr>
        <p:spPr>
          <a:xfrm>
            <a:off x="8339327" y="4526280"/>
            <a:ext cx="2843784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6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持续复训</a:t>
            </a:r>
            <a:endParaRPr sz="1600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anim_193"/>
          <p:cNvSpPr txBox="1"/>
          <p:nvPr/>
        </p:nvSpPr>
        <p:spPr>
          <a:xfrm>
            <a:off x="8339327" y="4937760"/>
            <a:ext cx="2843784" cy="1828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20" b="0">
                <a:solidFill>
                  <a:srgbClr val="4C4C4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首批学员每月都能参加新一期。</a:t>
            </a:r>
            <a:endParaRPr sz="1020" b="0">
              <a:solidFill>
                <a:srgbClr val="4C4C4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49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6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8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0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24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4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98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18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8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2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7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26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68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0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74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34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688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38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810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42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940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46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078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50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2240"/>
                            </p:stCondLst>
                            <p:childTnLst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1040"/>
                                  </p:stCondLst>
                                  <p:childTnLst>
                                    <p:set>
                                      <p:cBhvr>
                                        <p:cTn id="54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3780"/>
                            </p:stCondLst>
                            <p:childTnLst>
                              <p:par>
                                <p:cTn id="57" presetID="10" presetClass="entr" presetSubtype="0" fill="hold" grpId="0" nodeType="after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58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5380"/>
                            </p:stCondLst>
                            <p:childTnLst>
                              <p:par>
                                <p:cTn id="61" presetID="10" presetClass="entr" presetSubtype="0" fill="hold" grpId="0" nodeType="after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62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698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66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18580"/>
                            </p:stCondLst>
                            <p:childTnLst>
                              <p:par>
                                <p:cTn id="69" presetID="10" presetClass="entr" presetSubtype="0" fill="hold" grpId="0" nodeType="after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70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20180"/>
                            </p:stCondLst>
                            <p:childTnLst>
                              <p:par>
                                <p:cTn id="73" presetID="10" presetClass="entr" presetSubtype="0" fill="hold" grpId="0" nodeType="after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74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21780"/>
                            </p:stCondLst>
                            <p:childTnLst>
                              <p:par>
                                <p:cTn id="77" presetID="10" presetClass="entr" presetSubtype="0" fill="hold" grpId="0" nodeType="after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78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23380"/>
                            </p:stCondLst>
                            <p:childTnLst>
                              <p:par>
                                <p:cTn id="81" presetID="10" presetClass="entr" presetSubtype="0" fill="hold" grpId="0" nodeType="after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82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2498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86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26580"/>
                            </p:stCondLst>
                            <p:childTnLst>
                              <p:par>
                                <p:cTn id="89" presetID="10" presetClass="entr" presetSubtype="0" fill="hold" grpId="0" nodeType="after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90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28180"/>
                            </p:stCondLst>
                            <p:childTnLst>
                              <p:par>
                                <p:cTn id="93" presetID="10" presetClass="entr" presetSubtype="0" fill="hold" grpId="0" nodeType="after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94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29780"/>
                            </p:stCondLst>
                            <p:childTnLst>
                              <p:par>
                                <p:cTn id="97" presetID="10" presetClass="entr" presetSubtype="0" fill="hold" grpId="0" nodeType="after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98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31380"/>
                            </p:stCondLst>
                            <p:childTnLst>
                              <p:par>
                                <p:cTn id="101" presetID="10" presetClass="entr" presetSubtype="0" fill="hold" grpId="0" nodeType="after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102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3298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106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 animBg="1"/>
      <p:bldP spid="8" grpId="0"/>
      <p:bldP spid="9" grpId="0"/>
      <p:bldP spid="10" grpId="0"/>
      <p:bldP spid="11" grpId="0" animBg="1"/>
      <p:bldP spid="12" grpId="0"/>
      <p:bldP spid="13" grpId="0"/>
      <p:bldP spid="14" grpId="0"/>
      <p:bldP spid="15" grpId="0" animBg="1"/>
      <p:bldP spid="16" grpId="0"/>
      <p:bldP spid="17" grpId="0"/>
      <p:bldP spid="18" grpId="0"/>
      <p:bldP spid="19" grpId="0" animBg="1"/>
      <p:bldP spid="20" grpId="0"/>
      <p:bldP spid="21" grpId="0"/>
      <p:bldP spid="22" grpId="0"/>
      <p:bldP spid="23" grpId="0" animBg="1"/>
      <p:bldP spid="24" grpId="0"/>
      <p:bldP spid="25" grpId="0"/>
      <p:bldP spid="26" grpId="0"/>
      <p:bldP spid="27" grpId="0" animBg="1"/>
      <p:bldP spid="28" grpId="0"/>
      <p:bldP spid="29" grpId="0"/>
      <p:bldP spid="30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56692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750" b="0">
                <a:solidFill>
                  <a:srgbClr val="11111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14 / 21 · THREE WEEKS</a:t>
            </a:r>
            <a:endParaRPr sz="750" b="0">
              <a:solidFill>
                <a:srgbClr val="11111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869680" y="292608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4000"/>
              </a:lnSpc>
            </a:pPr>
            <a:r>
              <a:rPr sz="750" b="0">
                <a:solidFill>
                  <a:srgbClr val="11111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FROM KNOWING TO DOING</a:t>
            </a:r>
            <a:endParaRPr sz="750" b="0">
              <a:solidFill>
                <a:srgbClr val="11111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594360" y="612648"/>
            <a:ext cx="11000232" cy="0"/>
          </a:xfrm>
          <a:prstGeom prst="line">
            <a:avLst/>
          </a:prstGeom>
          <a:ln w="4445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anim_194"/>
          <p:cNvSpPr txBox="1"/>
          <p:nvPr/>
        </p:nvSpPr>
        <p:spPr>
          <a:xfrm>
            <a:off x="594360" y="987552"/>
            <a:ext cx="5029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800" b="1">
                <a:solidFill>
                  <a:srgbClr val="0057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3 WEEKS</a:t>
            </a:r>
            <a:endParaRPr sz="800" b="1">
              <a:solidFill>
                <a:srgbClr val="0057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" name="anim_195"/>
          <p:cNvSpPr txBox="1"/>
          <p:nvPr/>
        </p:nvSpPr>
        <p:spPr>
          <a:xfrm>
            <a:off x="594360" y="1316736"/>
            <a:ext cx="10607040" cy="10789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33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从知道，到做到，
再到愿意继续做。</a:t>
            </a:r>
            <a:endParaRPr sz="330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anim_196"/>
          <p:cNvSpPr/>
          <p:nvPr/>
        </p:nvSpPr>
        <p:spPr>
          <a:xfrm>
            <a:off x="640080" y="2880360"/>
            <a:ext cx="2377440" cy="2148840"/>
          </a:xfrm>
          <a:prstGeom prst="rect">
            <a:avLst/>
          </a:prstGeom>
          <a:solidFill>
            <a:srgbClr val="F7F7F1"/>
          </a:solidFill>
          <a:ln w="1016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anim_197"/>
          <p:cNvSpPr txBox="1"/>
          <p:nvPr/>
        </p:nvSpPr>
        <p:spPr>
          <a:xfrm>
            <a:off x="841247" y="3026664"/>
            <a:ext cx="7315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750" b="0">
                <a:solidFill>
                  <a:srgbClr val="0057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01</a:t>
            </a:r>
            <a:endParaRPr sz="750" b="0">
              <a:solidFill>
                <a:srgbClr val="0057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9" name="anim_198"/>
          <p:cNvSpPr txBox="1"/>
          <p:nvPr/>
        </p:nvSpPr>
        <p:spPr>
          <a:xfrm>
            <a:off x="841247" y="3291840"/>
            <a:ext cx="1975104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6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第1周</a:t>
            </a:r>
            <a:endParaRPr sz="1600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anim_199"/>
          <p:cNvSpPr txBox="1"/>
          <p:nvPr/>
        </p:nvSpPr>
        <p:spPr>
          <a:xfrm>
            <a:off x="841247" y="3703320"/>
            <a:ext cx="1975104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20" b="0">
                <a:solidFill>
                  <a:srgbClr val="4C4C4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重建认知：健康不是意志力，是系统设计。</a:t>
            </a:r>
            <a:endParaRPr sz="1020" b="0">
              <a:solidFill>
                <a:srgbClr val="4C4C4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anim_200"/>
          <p:cNvSpPr/>
          <p:nvPr/>
        </p:nvSpPr>
        <p:spPr>
          <a:xfrm>
            <a:off x="3429000" y="2880360"/>
            <a:ext cx="2377440" cy="2148840"/>
          </a:xfrm>
          <a:prstGeom prst="rect">
            <a:avLst/>
          </a:prstGeom>
          <a:solidFill>
            <a:srgbClr val="F7F7F1"/>
          </a:solidFill>
          <a:ln w="1016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anim_201"/>
          <p:cNvSpPr txBox="1"/>
          <p:nvPr/>
        </p:nvSpPr>
        <p:spPr>
          <a:xfrm>
            <a:off x="3630168" y="3026664"/>
            <a:ext cx="7315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750" b="0">
                <a:solidFill>
                  <a:srgbClr val="0057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02</a:t>
            </a:r>
            <a:endParaRPr sz="750" b="0">
              <a:solidFill>
                <a:srgbClr val="0057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3" name="anim_202"/>
          <p:cNvSpPr txBox="1"/>
          <p:nvPr/>
        </p:nvSpPr>
        <p:spPr>
          <a:xfrm>
            <a:off x="3630168" y="3291840"/>
            <a:ext cx="1975104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6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第2周</a:t>
            </a:r>
            <a:endParaRPr sz="1600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anim_203"/>
          <p:cNvSpPr txBox="1"/>
          <p:nvPr/>
        </p:nvSpPr>
        <p:spPr>
          <a:xfrm>
            <a:off x="3630168" y="3703320"/>
            <a:ext cx="1975104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20" b="0">
                <a:solidFill>
                  <a:srgbClr val="4C4C4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建立动作：超慢跑、力量训练、饮食节奏。</a:t>
            </a:r>
            <a:endParaRPr sz="1020" b="0">
              <a:solidFill>
                <a:srgbClr val="4C4C4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anim_204"/>
          <p:cNvSpPr/>
          <p:nvPr/>
        </p:nvSpPr>
        <p:spPr>
          <a:xfrm>
            <a:off x="6217920" y="2880360"/>
            <a:ext cx="2377440" cy="2148840"/>
          </a:xfrm>
          <a:prstGeom prst="rect">
            <a:avLst/>
          </a:prstGeom>
          <a:solidFill>
            <a:srgbClr val="F7F7F1"/>
          </a:solidFill>
          <a:ln w="1016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anim_205"/>
          <p:cNvSpPr txBox="1"/>
          <p:nvPr/>
        </p:nvSpPr>
        <p:spPr>
          <a:xfrm>
            <a:off x="6419088" y="3026664"/>
            <a:ext cx="7315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750" b="0">
                <a:solidFill>
                  <a:srgbClr val="0057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03</a:t>
            </a:r>
            <a:endParaRPr sz="750" b="0">
              <a:solidFill>
                <a:srgbClr val="0057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7" name="anim_206"/>
          <p:cNvSpPr txBox="1"/>
          <p:nvPr/>
        </p:nvSpPr>
        <p:spPr>
          <a:xfrm>
            <a:off x="6419088" y="3291840"/>
            <a:ext cx="1975104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6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第3周</a:t>
            </a:r>
            <a:endParaRPr sz="1600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anim_207"/>
          <p:cNvSpPr txBox="1"/>
          <p:nvPr/>
        </p:nvSpPr>
        <p:spPr>
          <a:xfrm>
            <a:off x="6419088" y="3703320"/>
            <a:ext cx="1975104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20" b="0">
                <a:solidFill>
                  <a:srgbClr val="4C4C4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巩固习惯：心理学、记录、反馈和复盘。</a:t>
            </a:r>
            <a:endParaRPr sz="1020" b="0">
              <a:solidFill>
                <a:srgbClr val="4C4C4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anim_208"/>
          <p:cNvSpPr/>
          <p:nvPr/>
        </p:nvSpPr>
        <p:spPr>
          <a:xfrm>
            <a:off x="9006839" y="2880360"/>
            <a:ext cx="2377440" cy="2148840"/>
          </a:xfrm>
          <a:prstGeom prst="rect">
            <a:avLst/>
          </a:prstGeom>
          <a:solidFill>
            <a:srgbClr val="0057FF"/>
          </a:solidFill>
          <a:ln w="10160">
            <a:solidFill>
              <a:srgbClr val="005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anim_209"/>
          <p:cNvSpPr txBox="1"/>
          <p:nvPr/>
        </p:nvSpPr>
        <p:spPr>
          <a:xfrm>
            <a:off x="9208007" y="3026664"/>
            <a:ext cx="7315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750" b="0">
                <a:solidFill>
                  <a:srgbClr val="11111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04</a:t>
            </a:r>
            <a:endParaRPr sz="750" b="0">
              <a:solidFill>
                <a:srgbClr val="11111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1" name="anim_210"/>
          <p:cNvSpPr txBox="1"/>
          <p:nvPr/>
        </p:nvSpPr>
        <p:spPr>
          <a:xfrm>
            <a:off x="9208007" y="3291840"/>
            <a:ext cx="1975104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6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每个月</a:t>
            </a:r>
            <a:endParaRPr sz="1600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anim_211"/>
          <p:cNvSpPr txBox="1"/>
          <p:nvPr/>
        </p:nvSpPr>
        <p:spPr>
          <a:xfrm>
            <a:off x="9208007" y="3703320"/>
            <a:ext cx="1975104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20" b="0">
                <a:solidFill>
                  <a:srgbClr val="4C4C4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下一期继续复训，把系统真正练熟。</a:t>
            </a:r>
            <a:endParaRPr sz="1020" b="0">
              <a:solidFill>
                <a:srgbClr val="4C4C4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49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6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8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0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24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4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98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18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8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2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7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26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68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0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74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34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688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38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810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42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940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46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078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50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2240"/>
                            </p:stCondLst>
                            <p:childTnLst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1040"/>
                                  </p:stCondLst>
                                  <p:childTnLst>
                                    <p:set>
                                      <p:cBhvr>
                                        <p:cTn id="54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3780"/>
                            </p:stCondLst>
                            <p:childTnLst>
                              <p:par>
                                <p:cTn id="57" presetID="10" presetClass="entr" presetSubtype="0" fill="hold" grpId="0" nodeType="after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58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5380"/>
                            </p:stCondLst>
                            <p:childTnLst>
                              <p:par>
                                <p:cTn id="61" presetID="10" presetClass="entr" presetSubtype="0" fill="hold" grpId="0" nodeType="after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62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698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66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18580"/>
                            </p:stCondLst>
                            <p:childTnLst>
                              <p:par>
                                <p:cTn id="69" presetID="10" presetClass="entr" presetSubtype="0" fill="hold" grpId="0" nodeType="after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70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20180"/>
                            </p:stCondLst>
                            <p:childTnLst>
                              <p:par>
                                <p:cTn id="73" presetID="10" presetClass="entr" presetSubtype="0" fill="hold" grpId="0" nodeType="after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74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 animBg="1"/>
      <p:bldP spid="8" grpId="0"/>
      <p:bldP spid="9" grpId="0"/>
      <p:bldP spid="10" grpId="0"/>
      <p:bldP spid="11" grpId="0" animBg="1"/>
      <p:bldP spid="12" grpId="0"/>
      <p:bldP spid="13" grpId="0"/>
      <p:bldP spid="14" grpId="0"/>
      <p:bldP spid="15" grpId="0" animBg="1"/>
      <p:bldP spid="16" grpId="0"/>
      <p:bldP spid="17" grpId="0"/>
      <p:bldP spid="18" grpId="0"/>
      <p:bldP spid="19" grpId="0" animBg="1"/>
      <p:bldP spid="20" grpId="0"/>
      <p:bldP spid="21" grpId="0"/>
      <p:bldP spid="2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56692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750" b="0">
                <a:solidFill>
                  <a:srgbClr val="11111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15 / 21 · OUR DIFFERENCE</a:t>
            </a:r>
            <a:endParaRPr sz="750" b="0">
              <a:solidFill>
                <a:srgbClr val="11111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869680" y="292608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4000"/>
              </a:lnSpc>
            </a:pPr>
            <a:r>
              <a:rPr sz="750" b="0">
                <a:solidFill>
                  <a:srgbClr val="11111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NOT ONE PART</a:t>
            </a:r>
            <a:endParaRPr sz="750" b="0">
              <a:solidFill>
                <a:srgbClr val="11111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594360" y="612648"/>
            <a:ext cx="11000232" cy="0"/>
          </a:xfrm>
          <a:prstGeom prst="line">
            <a:avLst/>
          </a:prstGeom>
          <a:ln w="4445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anim_212"/>
          <p:cNvSpPr txBox="1"/>
          <p:nvPr/>
        </p:nvSpPr>
        <p:spPr>
          <a:xfrm>
            <a:off x="594360" y="987552"/>
            <a:ext cx="5029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800" b="1">
                <a:solidFill>
                  <a:srgbClr val="0057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OUR DIFFERENCE</a:t>
            </a:r>
            <a:endParaRPr sz="800" b="1">
              <a:solidFill>
                <a:srgbClr val="0057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" name="anim_213"/>
          <p:cNvSpPr txBox="1"/>
          <p:nvPr/>
        </p:nvSpPr>
        <p:spPr>
          <a:xfrm>
            <a:off x="594360" y="1316736"/>
            <a:ext cx="10607040" cy="10789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31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它不是一个产品，
而是一条把你带回来的路径。</a:t>
            </a:r>
            <a:endParaRPr sz="310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640080" y="2395728"/>
            <a:ext cx="10835640" cy="0"/>
          </a:xfrm>
          <a:prstGeom prst="line">
            <a:avLst/>
          </a:prstGeom>
          <a:ln w="1016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anim_214"/>
          <p:cNvSpPr txBox="1"/>
          <p:nvPr/>
        </p:nvSpPr>
        <p:spPr>
          <a:xfrm>
            <a:off x="658368" y="2560320"/>
            <a:ext cx="21031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5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单一动作</a:t>
            </a:r>
            <a:endParaRPr sz="1500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anim_215"/>
          <p:cNvSpPr txBox="1"/>
          <p:nvPr/>
        </p:nvSpPr>
        <p:spPr>
          <a:xfrm>
            <a:off x="3108960" y="2514600"/>
            <a:ext cx="13258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800" b="0">
                <a:solidFill>
                  <a:srgbClr val="11111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PART</a:t>
            </a:r>
            <a:endParaRPr sz="1800" b="0">
              <a:solidFill>
                <a:srgbClr val="11111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0" name="anim_216"/>
          <p:cNvSpPr txBox="1"/>
          <p:nvPr/>
        </p:nvSpPr>
        <p:spPr>
          <a:xfrm>
            <a:off x="4617720" y="2560320"/>
            <a:ext cx="64922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120" b="0">
                <a:solidFill>
                  <a:srgbClr val="4A4A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只解决某一个环节，生活一变，动作就容易断。</a:t>
            </a:r>
            <a:endParaRPr sz="1120" b="0">
              <a:solidFill>
                <a:srgbClr val="4A4A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1" name="Connector 10"/>
          <p:cNvCxnSpPr/>
          <p:nvPr/>
        </p:nvCxnSpPr>
        <p:spPr>
          <a:xfrm>
            <a:off x="640080" y="2990087"/>
            <a:ext cx="10835640" cy="0"/>
          </a:xfrm>
          <a:prstGeom prst="line">
            <a:avLst/>
          </a:prstGeom>
          <a:ln w="6350">
            <a:solidFill>
              <a:srgbClr val="BABA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anim_217"/>
          <p:cNvSpPr txBox="1"/>
          <p:nvPr/>
        </p:nvSpPr>
        <p:spPr>
          <a:xfrm>
            <a:off x="658368" y="3200400"/>
            <a:ext cx="21031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5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完整系统</a:t>
            </a:r>
            <a:endParaRPr sz="1500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anim_218"/>
          <p:cNvSpPr txBox="1"/>
          <p:nvPr/>
        </p:nvSpPr>
        <p:spPr>
          <a:xfrm>
            <a:off x="3108960" y="3154680"/>
            <a:ext cx="13258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800" b="0">
                <a:solidFill>
                  <a:srgbClr val="11111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OS</a:t>
            </a:r>
            <a:endParaRPr sz="1800" b="0">
              <a:solidFill>
                <a:srgbClr val="11111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4" name="anim_219"/>
          <p:cNvSpPr txBox="1"/>
          <p:nvPr/>
        </p:nvSpPr>
        <p:spPr>
          <a:xfrm>
            <a:off x="4617720" y="3200400"/>
            <a:ext cx="64922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120" b="0">
                <a:solidFill>
                  <a:srgbClr val="4A4A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医学、营养、运动、心理、环境和社群一起作用。</a:t>
            </a:r>
            <a:endParaRPr sz="1120" b="0">
              <a:solidFill>
                <a:srgbClr val="4A4A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5" name="Connector 14"/>
          <p:cNvCxnSpPr/>
          <p:nvPr/>
        </p:nvCxnSpPr>
        <p:spPr>
          <a:xfrm>
            <a:off x="640080" y="3630168"/>
            <a:ext cx="10835640" cy="0"/>
          </a:xfrm>
          <a:prstGeom prst="line">
            <a:avLst/>
          </a:prstGeom>
          <a:ln w="6350">
            <a:solidFill>
              <a:srgbClr val="BABA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anim_220"/>
          <p:cNvSpPr txBox="1"/>
          <p:nvPr/>
        </p:nvSpPr>
        <p:spPr>
          <a:xfrm>
            <a:off x="658368" y="3840479"/>
            <a:ext cx="21031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5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每天陪练</a:t>
            </a:r>
            <a:endParaRPr sz="1500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anim_221"/>
          <p:cNvSpPr txBox="1"/>
          <p:nvPr/>
        </p:nvSpPr>
        <p:spPr>
          <a:xfrm>
            <a:off x="3108960" y="3794759"/>
            <a:ext cx="13258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800" b="0">
                <a:solidFill>
                  <a:srgbClr val="11111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DO</a:t>
            </a:r>
            <a:endParaRPr sz="1800" b="0">
              <a:solidFill>
                <a:srgbClr val="11111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8" name="anim_222"/>
          <p:cNvSpPr txBox="1"/>
          <p:nvPr/>
        </p:nvSpPr>
        <p:spPr>
          <a:xfrm>
            <a:off x="4617720" y="3840479"/>
            <a:ext cx="64922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120" b="0">
                <a:solidFill>
                  <a:srgbClr val="4A4A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把知道变成完成。</a:t>
            </a:r>
            <a:endParaRPr sz="1120" b="0">
              <a:solidFill>
                <a:srgbClr val="4A4A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9" name="Connector 18"/>
          <p:cNvCxnSpPr/>
          <p:nvPr/>
        </p:nvCxnSpPr>
        <p:spPr>
          <a:xfrm>
            <a:off x="640080" y="4270247"/>
            <a:ext cx="10835640" cy="0"/>
          </a:xfrm>
          <a:prstGeom prst="line">
            <a:avLst/>
          </a:prstGeom>
          <a:ln w="6350">
            <a:solidFill>
              <a:srgbClr val="BABA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anim_223"/>
          <p:cNvSpPr txBox="1"/>
          <p:nvPr/>
        </p:nvSpPr>
        <p:spPr>
          <a:xfrm>
            <a:off x="658368" y="4480559"/>
            <a:ext cx="21031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5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每月复训</a:t>
            </a:r>
            <a:endParaRPr sz="1500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anim_224"/>
          <p:cNvSpPr txBox="1"/>
          <p:nvPr/>
        </p:nvSpPr>
        <p:spPr>
          <a:xfrm>
            <a:off x="3108960" y="4434840"/>
            <a:ext cx="13258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800" b="0">
                <a:solidFill>
                  <a:srgbClr val="11111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AGAIN</a:t>
            </a:r>
            <a:endParaRPr sz="1800" b="0">
              <a:solidFill>
                <a:srgbClr val="11111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2" name="anim_225"/>
          <p:cNvSpPr txBox="1"/>
          <p:nvPr/>
        </p:nvSpPr>
        <p:spPr>
          <a:xfrm>
            <a:off x="4617720" y="4480559"/>
            <a:ext cx="64922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120" b="0">
                <a:solidFill>
                  <a:srgbClr val="4A4A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状态掉线时，回到系统。</a:t>
            </a:r>
            <a:endParaRPr sz="1120" b="0">
              <a:solidFill>
                <a:srgbClr val="4A4A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3" name="Connector 22"/>
          <p:cNvCxnSpPr/>
          <p:nvPr/>
        </p:nvCxnSpPr>
        <p:spPr>
          <a:xfrm>
            <a:off x="640080" y="4910327"/>
            <a:ext cx="10835640" cy="0"/>
          </a:xfrm>
          <a:prstGeom prst="line">
            <a:avLst/>
          </a:prstGeom>
          <a:ln w="6350">
            <a:solidFill>
              <a:srgbClr val="BABA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anim_226"/>
          <p:cNvSpPr txBox="1"/>
          <p:nvPr/>
        </p:nvSpPr>
        <p:spPr>
          <a:xfrm>
            <a:off x="658368" y="5120640"/>
            <a:ext cx="21031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500" b="1">
                <a:solidFill>
                  <a:srgbClr val="0057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长期拥有</a:t>
            </a:r>
            <a:endParaRPr sz="1500" b="1">
              <a:solidFill>
                <a:srgbClr val="0057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anim_227"/>
          <p:cNvSpPr txBox="1"/>
          <p:nvPr/>
        </p:nvSpPr>
        <p:spPr>
          <a:xfrm>
            <a:off x="3108960" y="5074920"/>
            <a:ext cx="13258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800" b="0">
                <a:solidFill>
                  <a:srgbClr val="0057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LIFE</a:t>
            </a:r>
            <a:endParaRPr sz="1800" b="0">
              <a:solidFill>
                <a:srgbClr val="0057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6" name="anim_228"/>
          <p:cNvSpPr txBox="1"/>
          <p:nvPr/>
        </p:nvSpPr>
        <p:spPr>
          <a:xfrm>
            <a:off x="4617720" y="5120640"/>
            <a:ext cx="64922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120" b="0">
                <a:solidFill>
                  <a:srgbClr val="4A4A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一次次把健康拉回你的生活。</a:t>
            </a:r>
            <a:endParaRPr sz="1120" b="0">
              <a:solidFill>
                <a:srgbClr val="4A4A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7" name="Connector 26"/>
          <p:cNvCxnSpPr/>
          <p:nvPr/>
        </p:nvCxnSpPr>
        <p:spPr>
          <a:xfrm>
            <a:off x="640080" y="5550407"/>
            <a:ext cx="10835640" cy="0"/>
          </a:xfrm>
          <a:prstGeom prst="line">
            <a:avLst/>
          </a:prstGeom>
          <a:ln w="6350">
            <a:solidFill>
              <a:srgbClr val="005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49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6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8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0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24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4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98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18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8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2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7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26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68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0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74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34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688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38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810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42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940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46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078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50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2240"/>
                            </p:stCondLst>
                            <p:childTnLst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1040"/>
                                  </p:stCondLst>
                                  <p:childTnLst>
                                    <p:set>
                                      <p:cBhvr>
                                        <p:cTn id="54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3780"/>
                            </p:stCondLst>
                            <p:childTnLst>
                              <p:par>
                                <p:cTn id="57" presetID="10" presetClass="entr" presetSubtype="0" fill="hold" grpId="0" nodeType="after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58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5380"/>
                            </p:stCondLst>
                            <p:childTnLst>
                              <p:par>
                                <p:cTn id="61" presetID="10" presetClass="entr" presetSubtype="0" fill="hold" grpId="0" nodeType="after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62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698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66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18580"/>
                            </p:stCondLst>
                            <p:childTnLst>
                              <p:par>
                                <p:cTn id="69" presetID="10" presetClass="entr" presetSubtype="0" fill="hold" grpId="0" nodeType="after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70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8" grpId="0"/>
      <p:bldP spid="9" grpId="0"/>
      <p:bldP spid="10" grpId="0"/>
      <p:bldP spid="12" grpId="0"/>
      <p:bldP spid="13" grpId="0"/>
      <p:bldP spid="14" grpId="0"/>
      <p:bldP spid="16" grpId="0"/>
      <p:bldP spid="17" grpId="0"/>
      <p:bldP spid="18" grpId="0"/>
      <p:bldP spid="20" grpId="0"/>
      <p:bldP spid="21" grpId="0"/>
      <p:bldP spid="22" grpId="0"/>
      <p:bldP spid="24" grpId="0"/>
      <p:bldP spid="25" grpId="0"/>
      <p:bldP spid="2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56692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750" b="0">
                <a:solidFill>
                  <a:srgbClr val="11111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16 / 21 · OUTCOMES</a:t>
            </a:r>
            <a:endParaRPr sz="750" b="0">
              <a:solidFill>
                <a:srgbClr val="11111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869680" y="292608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4000"/>
              </a:lnSpc>
            </a:pPr>
            <a:r>
              <a:rPr sz="750" b="0">
                <a:solidFill>
                  <a:srgbClr val="11111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BODY / MOOD / LIFE</a:t>
            </a:r>
            <a:endParaRPr sz="750" b="0">
              <a:solidFill>
                <a:srgbClr val="11111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594360" y="612648"/>
            <a:ext cx="11000232" cy="0"/>
          </a:xfrm>
          <a:prstGeom prst="line">
            <a:avLst/>
          </a:prstGeom>
          <a:ln w="4445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0" y="0"/>
            <a:ext cx="4754880" cy="6858000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anim_229"/>
          <p:cNvSpPr txBox="1"/>
          <p:nvPr/>
        </p:nvSpPr>
        <p:spPr>
          <a:xfrm>
            <a:off x="658368" y="1143000"/>
            <a:ext cx="356616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34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具体改变，
会从很小的地方开始。</a:t>
            </a:r>
            <a:endParaRPr sz="340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anim_230"/>
          <p:cNvSpPr txBox="1"/>
          <p:nvPr/>
        </p:nvSpPr>
        <p:spPr>
          <a:xfrm>
            <a:off x="658368" y="5852160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800" b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BODY / MOOD / LIFE</a:t>
            </a:r>
            <a:endParaRPr sz="800" b="0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8" name="anim_231"/>
          <p:cNvSpPr/>
          <p:nvPr/>
        </p:nvSpPr>
        <p:spPr>
          <a:xfrm>
            <a:off x="5623560" y="1234440"/>
            <a:ext cx="5303520" cy="1051560"/>
          </a:xfrm>
          <a:prstGeom prst="rect">
            <a:avLst/>
          </a:prstGeom>
          <a:solidFill>
            <a:srgbClr val="F7F7F1"/>
          </a:solidFill>
          <a:ln w="1016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anim_232"/>
          <p:cNvSpPr txBox="1"/>
          <p:nvPr/>
        </p:nvSpPr>
        <p:spPr>
          <a:xfrm>
            <a:off x="5824728" y="1380744"/>
            <a:ext cx="7315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750" b="0">
                <a:solidFill>
                  <a:srgbClr val="0057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01</a:t>
            </a:r>
            <a:endParaRPr sz="750" b="0">
              <a:solidFill>
                <a:srgbClr val="0057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0" name="anim_233"/>
          <p:cNvSpPr txBox="1"/>
          <p:nvPr/>
        </p:nvSpPr>
        <p:spPr>
          <a:xfrm>
            <a:off x="5824728" y="1645920"/>
            <a:ext cx="4901183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6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身体</a:t>
            </a:r>
            <a:endParaRPr sz="1600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anim_234"/>
          <p:cNvSpPr txBox="1"/>
          <p:nvPr/>
        </p:nvSpPr>
        <p:spPr>
          <a:xfrm>
            <a:off x="5824728" y="2057400"/>
            <a:ext cx="4901183" cy="1828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20" b="0">
                <a:solidFill>
                  <a:srgbClr val="4C4C4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晨练、饮食、睡眠慢慢回到节奏。</a:t>
            </a:r>
            <a:endParaRPr sz="1020" b="0">
              <a:solidFill>
                <a:srgbClr val="4C4C4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anim_235"/>
          <p:cNvSpPr/>
          <p:nvPr/>
        </p:nvSpPr>
        <p:spPr>
          <a:xfrm>
            <a:off x="5623560" y="2743200"/>
            <a:ext cx="5303520" cy="1051560"/>
          </a:xfrm>
          <a:prstGeom prst="rect">
            <a:avLst/>
          </a:prstGeom>
          <a:solidFill>
            <a:srgbClr val="F7F7F1"/>
          </a:solidFill>
          <a:ln w="1016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anim_236"/>
          <p:cNvSpPr txBox="1"/>
          <p:nvPr/>
        </p:nvSpPr>
        <p:spPr>
          <a:xfrm>
            <a:off x="5824728" y="2889504"/>
            <a:ext cx="7315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750" b="0">
                <a:solidFill>
                  <a:srgbClr val="0057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02</a:t>
            </a:r>
            <a:endParaRPr sz="750" b="0">
              <a:solidFill>
                <a:srgbClr val="0057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4" name="anim_237"/>
          <p:cNvSpPr txBox="1"/>
          <p:nvPr/>
        </p:nvSpPr>
        <p:spPr>
          <a:xfrm>
            <a:off x="5824728" y="3154680"/>
            <a:ext cx="4901183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6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情绪</a:t>
            </a:r>
            <a:endParaRPr sz="1600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anim_238"/>
          <p:cNvSpPr txBox="1"/>
          <p:nvPr/>
        </p:nvSpPr>
        <p:spPr>
          <a:xfrm>
            <a:off x="5824728" y="3566160"/>
            <a:ext cx="4901183" cy="1828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20" b="0">
                <a:solidFill>
                  <a:srgbClr val="4C4C4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每天完成一件小事，重新建立自我确认。</a:t>
            </a:r>
            <a:endParaRPr sz="1020" b="0">
              <a:solidFill>
                <a:srgbClr val="4C4C4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anim_239"/>
          <p:cNvSpPr/>
          <p:nvPr/>
        </p:nvSpPr>
        <p:spPr>
          <a:xfrm>
            <a:off x="5623560" y="4251960"/>
            <a:ext cx="5303520" cy="1051560"/>
          </a:xfrm>
          <a:prstGeom prst="rect">
            <a:avLst/>
          </a:prstGeom>
          <a:solidFill>
            <a:srgbClr val="0057FF"/>
          </a:solidFill>
          <a:ln w="10160">
            <a:solidFill>
              <a:srgbClr val="005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anim_240"/>
          <p:cNvSpPr txBox="1"/>
          <p:nvPr/>
        </p:nvSpPr>
        <p:spPr>
          <a:xfrm>
            <a:off x="5824728" y="4398264"/>
            <a:ext cx="7315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750" b="0">
                <a:solidFill>
                  <a:srgbClr val="11111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03</a:t>
            </a:r>
            <a:endParaRPr sz="750" b="0">
              <a:solidFill>
                <a:srgbClr val="11111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8" name="anim_241"/>
          <p:cNvSpPr txBox="1"/>
          <p:nvPr/>
        </p:nvSpPr>
        <p:spPr>
          <a:xfrm>
            <a:off x="5824728" y="4663440"/>
            <a:ext cx="4901183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6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生活</a:t>
            </a:r>
            <a:endParaRPr sz="1600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anim_242"/>
          <p:cNvSpPr txBox="1"/>
          <p:nvPr/>
        </p:nvSpPr>
        <p:spPr>
          <a:xfrm>
            <a:off x="5824728" y="5074920"/>
            <a:ext cx="4901183" cy="1828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20" b="0">
                <a:solidFill>
                  <a:srgbClr val="4C4C4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你会开始相信，改变不一定靠痛苦硬撑。</a:t>
            </a:r>
            <a:endParaRPr sz="1020" b="0">
              <a:solidFill>
                <a:srgbClr val="4C4C4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49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6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8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0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24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4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98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18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8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2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7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26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68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0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74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34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688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38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810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42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940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46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078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50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2240"/>
                            </p:stCondLst>
                            <p:childTnLst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1040"/>
                                  </p:stCondLst>
                                  <p:childTnLst>
                                    <p:set>
                                      <p:cBhvr>
                                        <p:cTn id="54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3780"/>
                            </p:stCondLst>
                            <p:childTnLst>
                              <p:par>
                                <p:cTn id="57" presetID="10" presetClass="entr" presetSubtype="0" fill="hold" grpId="0" nodeType="after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58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 animBg="1"/>
      <p:bldP spid="9" grpId="0"/>
      <p:bldP spid="10" grpId="0"/>
      <p:bldP spid="11" grpId="0"/>
      <p:bldP spid="12" grpId="0" animBg="1"/>
      <p:bldP spid="13" grpId="0"/>
      <p:bldP spid="14" grpId="0"/>
      <p:bldP spid="15" grpId="0"/>
      <p:bldP spid="16" grpId="0" animBg="1"/>
      <p:bldP spid="17" grpId="0"/>
      <p:bldP spid="18" grpId="0"/>
      <p:bldP spid="19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56692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750" b="0">
                <a:solidFill>
                  <a:srgbClr val="11111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17 / 21 · FIRST DAY</a:t>
            </a:r>
            <a:endParaRPr sz="750" b="0">
              <a:solidFill>
                <a:srgbClr val="11111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869680" y="292608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4000"/>
              </a:lnSpc>
            </a:pPr>
            <a:r>
              <a:rPr sz="750" b="0">
                <a:solidFill>
                  <a:srgbClr val="11111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HOW IT STARTS</a:t>
            </a:r>
            <a:endParaRPr sz="750" b="0">
              <a:solidFill>
                <a:srgbClr val="11111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594360" y="612648"/>
            <a:ext cx="11000232" cy="0"/>
          </a:xfrm>
          <a:prstGeom prst="line">
            <a:avLst/>
          </a:prstGeom>
          <a:ln w="4445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anim_243"/>
          <p:cNvSpPr txBox="1"/>
          <p:nvPr/>
        </p:nvSpPr>
        <p:spPr>
          <a:xfrm>
            <a:off x="594360" y="987552"/>
            <a:ext cx="5029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800" b="1">
                <a:solidFill>
                  <a:srgbClr val="0057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FIRST DAY</a:t>
            </a:r>
            <a:endParaRPr sz="800" b="1">
              <a:solidFill>
                <a:srgbClr val="0057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" name="anim_244"/>
          <p:cNvSpPr txBox="1"/>
          <p:nvPr/>
        </p:nvSpPr>
        <p:spPr>
          <a:xfrm>
            <a:off x="594360" y="1316736"/>
            <a:ext cx="10607040" cy="10789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34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你会先进入一个行动环境。</a:t>
            </a:r>
            <a:endParaRPr sz="340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anim_245"/>
          <p:cNvSpPr/>
          <p:nvPr/>
        </p:nvSpPr>
        <p:spPr>
          <a:xfrm>
            <a:off x="640080" y="2834640"/>
            <a:ext cx="2377440" cy="2057400"/>
          </a:xfrm>
          <a:prstGeom prst="rect">
            <a:avLst/>
          </a:prstGeom>
          <a:solidFill>
            <a:srgbClr val="F7F7F1"/>
          </a:solidFill>
          <a:ln w="1016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anim_246"/>
          <p:cNvSpPr txBox="1"/>
          <p:nvPr/>
        </p:nvSpPr>
        <p:spPr>
          <a:xfrm>
            <a:off x="841247" y="2980944"/>
            <a:ext cx="7315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750" b="0">
                <a:solidFill>
                  <a:srgbClr val="0057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01</a:t>
            </a:r>
            <a:endParaRPr sz="750" b="0">
              <a:solidFill>
                <a:srgbClr val="0057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9" name="anim_247"/>
          <p:cNvSpPr txBox="1"/>
          <p:nvPr/>
        </p:nvSpPr>
        <p:spPr>
          <a:xfrm>
            <a:off x="841247" y="3246120"/>
            <a:ext cx="1975104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6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进入社群</a:t>
            </a:r>
            <a:endParaRPr sz="1600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anim_248"/>
          <p:cNvSpPr txBox="1"/>
          <p:nvPr/>
        </p:nvSpPr>
        <p:spPr>
          <a:xfrm>
            <a:off x="841247" y="3657600"/>
            <a:ext cx="1975104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20" b="0">
                <a:solidFill>
                  <a:srgbClr val="4C4C4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不是孤立学习，而是进入行动场。</a:t>
            </a:r>
            <a:endParaRPr sz="1020" b="0">
              <a:solidFill>
                <a:srgbClr val="4C4C4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anim_249"/>
          <p:cNvSpPr/>
          <p:nvPr/>
        </p:nvSpPr>
        <p:spPr>
          <a:xfrm>
            <a:off x="3429000" y="2834640"/>
            <a:ext cx="2377440" cy="2057400"/>
          </a:xfrm>
          <a:prstGeom prst="rect">
            <a:avLst/>
          </a:prstGeom>
          <a:solidFill>
            <a:srgbClr val="F7F7F1"/>
          </a:solidFill>
          <a:ln w="1016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anim_250"/>
          <p:cNvSpPr txBox="1"/>
          <p:nvPr/>
        </p:nvSpPr>
        <p:spPr>
          <a:xfrm>
            <a:off x="3630168" y="2980944"/>
            <a:ext cx="7315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750" b="0">
                <a:solidFill>
                  <a:srgbClr val="0057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02</a:t>
            </a:r>
            <a:endParaRPr sz="750" b="0">
              <a:solidFill>
                <a:srgbClr val="0057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3" name="anim_251"/>
          <p:cNvSpPr txBox="1"/>
          <p:nvPr/>
        </p:nvSpPr>
        <p:spPr>
          <a:xfrm>
            <a:off x="3630168" y="3246120"/>
            <a:ext cx="1975104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6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完成诊断</a:t>
            </a:r>
            <a:endParaRPr sz="1600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anim_252"/>
          <p:cNvSpPr txBox="1"/>
          <p:nvPr/>
        </p:nvSpPr>
        <p:spPr>
          <a:xfrm>
            <a:off x="3630168" y="3657600"/>
            <a:ext cx="1975104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20" b="0">
                <a:solidFill>
                  <a:srgbClr val="4C4C4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知道自己最需要先改哪里。</a:t>
            </a:r>
            <a:endParaRPr sz="1020" b="0">
              <a:solidFill>
                <a:srgbClr val="4C4C4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anim_253"/>
          <p:cNvSpPr/>
          <p:nvPr/>
        </p:nvSpPr>
        <p:spPr>
          <a:xfrm>
            <a:off x="6217920" y="2834640"/>
            <a:ext cx="2377440" cy="2057400"/>
          </a:xfrm>
          <a:prstGeom prst="rect">
            <a:avLst/>
          </a:prstGeom>
          <a:solidFill>
            <a:srgbClr val="F7F7F1"/>
          </a:solidFill>
          <a:ln w="1016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anim_254"/>
          <p:cNvSpPr txBox="1"/>
          <p:nvPr/>
        </p:nvSpPr>
        <p:spPr>
          <a:xfrm>
            <a:off x="6419088" y="2980944"/>
            <a:ext cx="7315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750" b="0">
                <a:solidFill>
                  <a:srgbClr val="0057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03</a:t>
            </a:r>
            <a:endParaRPr sz="750" b="0">
              <a:solidFill>
                <a:srgbClr val="0057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7" name="anim_255"/>
          <p:cNvSpPr txBox="1"/>
          <p:nvPr/>
        </p:nvSpPr>
        <p:spPr>
          <a:xfrm>
            <a:off x="6419088" y="3246120"/>
            <a:ext cx="1975104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6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参加晨练</a:t>
            </a:r>
            <a:endParaRPr sz="1600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anim_256"/>
          <p:cNvSpPr txBox="1"/>
          <p:nvPr/>
        </p:nvSpPr>
        <p:spPr>
          <a:xfrm>
            <a:off x="6419088" y="3657600"/>
            <a:ext cx="1975104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20" b="0">
                <a:solidFill>
                  <a:srgbClr val="4C4C4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先完成一次，再谈坚持。</a:t>
            </a:r>
            <a:endParaRPr sz="1020" b="0">
              <a:solidFill>
                <a:srgbClr val="4C4C4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anim_257"/>
          <p:cNvSpPr/>
          <p:nvPr/>
        </p:nvSpPr>
        <p:spPr>
          <a:xfrm>
            <a:off x="9006839" y="2834640"/>
            <a:ext cx="2377440" cy="2057400"/>
          </a:xfrm>
          <a:prstGeom prst="rect">
            <a:avLst/>
          </a:prstGeom>
          <a:solidFill>
            <a:srgbClr val="0057FF"/>
          </a:solidFill>
          <a:ln w="10160">
            <a:solidFill>
              <a:srgbClr val="005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anim_258"/>
          <p:cNvSpPr txBox="1"/>
          <p:nvPr/>
        </p:nvSpPr>
        <p:spPr>
          <a:xfrm>
            <a:off x="9208007" y="2980944"/>
            <a:ext cx="7315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750" b="0">
                <a:solidFill>
                  <a:srgbClr val="11111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04</a:t>
            </a:r>
            <a:endParaRPr sz="750" b="0">
              <a:solidFill>
                <a:srgbClr val="11111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1" name="anim_259"/>
          <p:cNvSpPr txBox="1"/>
          <p:nvPr/>
        </p:nvSpPr>
        <p:spPr>
          <a:xfrm>
            <a:off x="9208007" y="3246120"/>
            <a:ext cx="1975104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6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被看见</a:t>
            </a:r>
            <a:endParaRPr sz="1600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anim_260"/>
          <p:cNvSpPr txBox="1"/>
          <p:nvPr/>
        </p:nvSpPr>
        <p:spPr>
          <a:xfrm>
            <a:off x="9208007" y="3657600"/>
            <a:ext cx="1975104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20" b="0">
                <a:solidFill>
                  <a:srgbClr val="4C4C4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记录、反馈、鼓励，把行动留下来。</a:t>
            </a:r>
            <a:endParaRPr sz="1020" b="0">
              <a:solidFill>
                <a:srgbClr val="4C4C4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49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6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8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0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24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4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98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18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8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2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7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26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68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0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74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34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688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38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810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42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940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46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078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50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2240"/>
                            </p:stCondLst>
                            <p:childTnLst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1040"/>
                                  </p:stCondLst>
                                  <p:childTnLst>
                                    <p:set>
                                      <p:cBhvr>
                                        <p:cTn id="54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3780"/>
                            </p:stCondLst>
                            <p:childTnLst>
                              <p:par>
                                <p:cTn id="57" presetID="10" presetClass="entr" presetSubtype="0" fill="hold" grpId="0" nodeType="after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58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5380"/>
                            </p:stCondLst>
                            <p:childTnLst>
                              <p:par>
                                <p:cTn id="61" presetID="10" presetClass="entr" presetSubtype="0" fill="hold" grpId="0" nodeType="after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62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698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66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18580"/>
                            </p:stCondLst>
                            <p:childTnLst>
                              <p:par>
                                <p:cTn id="69" presetID="10" presetClass="entr" presetSubtype="0" fill="hold" grpId="0" nodeType="after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70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20180"/>
                            </p:stCondLst>
                            <p:childTnLst>
                              <p:par>
                                <p:cTn id="73" presetID="10" presetClass="entr" presetSubtype="0" fill="hold" grpId="0" nodeType="after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74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 animBg="1"/>
      <p:bldP spid="8" grpId="0"/>
      <p:bldP spid="9" grpId="0"/>
      <p:bldP spid="10" grpId="0"/>
      <p:bldP spid="11" grpId="0" animBg="1"/>
      <p:bldP spid="12" grpId="0"/>
      <p:bldP spid="13" grpId="0"/>
      <p:bldP spid="14" grpId="0"/>
      <p:bldP spid="15" grpId="0" animBg="1"/>
      <p:bldP spid="16" grpId="0"/>
      <p:bldP spid="17" grpId="0"/>
      <p:bldP spid="18" grpId="0"/>
      <p:bldP spid="19" grpId="0" animBg="1"/>
      <p:bldP spid="20" grpId="0"/>
      <p:bldP spid="21" grpId="0"/>
      <p:bldP spid="2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56692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750" b="0">
                <a:solidFill>
                  <a:srgbClr val="11111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18 / 21 · MONTHLY FLYWHEEL</a:t>
            </a:r>
            <a:endParaRPr sz="750" b="0">
              <a:solidFill>
                <a:srgbClr val="11111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869680" y="292608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4000"/>
              </a:lnSpc>
            </a:pPr>
            <a:r>
              <a:rPr sz="750" b="0">
                <a:solidFill>
                  <a:srgbClr val="11111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RETRAIN FOREVER</a:t>
            </a:r>
            <a:endParaRPr sz="750" b="0">
              <a:solidFill>
                <a:srgbClr val="11111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594360" y="612648"/>
            <a:ext cx="11000232" cy="0"/>
          </a:xfrm>
          <a:prstGeom prst="line">
            <a:avLst/>
          </a:prstGeom>
          <a:ln w="4445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anim_261"/>
          <p:cNvSpPr txBox="1"/>
          <p:nvPr/>
        </p:nvSpPr>
        <p:spPr>
          <a:xfrm>
            <a:off x="594360" y="987552"/>
            <a:ext cx="5029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800" b="1">
                <a:solidFill>
                  <a:srgbClr val="0057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WHY RETRAIN</a:t>
            </a:r>
            <a:endParaRPr sz="800" b="1">
              <a:solidFill>
                <a:srgbClr val="0057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" name="anim_262"/>
          <p:cNvSpPr txBox="1"/>
          <p:nvPr/>
        </p:nvSpPr>
        <p:spPr>
          <a:xfrm>
            <a:off x="594360" y="1316736"/>
            <a:ext cx="10607040" cy="10789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34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好的系统，
允许你掉线后回来。</a:t>
            </a:r>
            <a:endParaRPr sz="340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868680" y="3840480"/>
            <a:ext cx="10332720" cy="0"/>
          </a:xfrm>
          <a:prstGeom prst="line">
            <a:avLst/>
          </a:prstGeom>
          <a:ln w="1270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anim_263"/>
          <p:cNvSpPr/>
          <p:nvPr/>
        </p:nvSpPr>
        <p:spPr>
          <a:xfrm>
            <a:off x="1371600" y="3776472"/>
            <a:ext cx="128016" cy="128016"/>
          </a:xfrm>
          <a:prstGeom prst="ellipse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anim_264"/>
          <p:cNvSpPr txBox="1"/>
          <p:nvPr/>
        </p:nvSpPr>
        <p:spPr>
          <a:xfrm>
            <a:off x="804672" y="2697480"/>
            <a:ext cx="113385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4000"/>
              </a:lnSpc>
            </a:pPr>
            <a:r>
              <a:rPr sz="800" b="1">
                <a:solidFill>
                  <a:srgbClr val="0057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MONTH 1</a:t>
            </a:r>
            <a:endParaRPr sz="800" b="1">
              <a:solidFill>
                <a:srgbClr val="0057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0" name="anim_265"/>
          <p:cNvSpPr txBox="1"/>
          <p:nvPr/>
        </p:nvSpPr>
        <p:spPr>
          <a:xfrm>
            <a:off x="594360" y="2953512"/>
            <a:ext cx="155448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4000"/>
              </a:lnSpc>
            </a:pPr>
            <a:r>
              <a:rPr sz="14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第一次启动</a:t>
            </a:r>
            <a:endParaRPr sz="1400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anim_266"/>
          <p:cNvSpPr txBox="1"/>
          <p:nvPr/>
        </p:nvSpPr>
        <p:spPr>
          <a:xfrm>
            <a:off x="502920" y="3355848"/>
            <a:ext cx="17373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4000"/>
              </a:lnSpc>
            </a:pPr>
            <a:r>
              <a:rPr sz="930" b="0">
                <a:solidFill>
                  <a:srgbClr val="4A4A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知道怎么练，先做起来</a:t>
            </a:r>
            <a:endParaRPr sz="930" b="0">
              <a:solidFill>
                <a:srgbClr val="4A4A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anim_267"/>
          <p:cNvSpPr/>
          <p:nvPr/>
        </p:nvSpPr>
        <p:spPr>
          <a:xfrm>
            <a:off x="4297680" y="3776472"/>
            <a:ext cx="128016" cy="128016"/>
          </a:xfrm>
          <a:prstGeom prst="ellipse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anim_268"/>
          <p:cNvSpPr txBox="1"/>
          <p:nvPr/>
        </p:nvSpPr>
        <p:spPr>
          <a:xfrm>
            <a:off x="3730752" y="4160520"/>
            <a:ext cx="113385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4000"/>
              </a:lnSpc>
            </a:pPr>
            <a:r>
              <a:rPr sz="800" b="1">
                <a:solidFill>
                  <a:srgbClr val="0057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MONTH 2</a:t>
            </a:r>
            <a:endParaRPr sz="800" b="1">
              <a:solidFill>
                <a:srgbClr val="0057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4" name="anim_269"/>
          <p:cNvSpPr txBox="1"/>
          <p:nvPr/>
        </p:nvSpPr>
        <p:spPr>
          <a:xfrm>
            <a:off x="3520440" y="4416552"/>
            <a:ext cx="155448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4000"/>
              </a:lnSpc>
            </a:pPr>
            <a:r>
              <a:rPr sz="14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回来复训</a:t>
            </a:r>
            <a:endParaRPr sz="1400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anim_270"/>
          <p:cNvSpPr txBox="1"/>
          <p:nvPr/>
        </p:nvSpPr>
        <p:spPr>
          <a:xfrm>
            <a:off x="3429000" y="4818888"/>
            <a:ext cx="17373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4000"/>
              </a:lnSpc>
            </a:pPr>
            <a:r>
              <a:rPr sz="930" b="0">
                <a:solidFill>
                  <a:srgbClr val="4A4A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把断掉的节奏接回来</a:t>
            </a:r>
            <a:endParaRPr sz="930" b="0">
              <a:solidFill>
                <a:srgbClr val="4A4A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anim_271"/>
          <p:cNvSpPr/>
          <p:nvPr/>
        </p:nvSpPr>
        <p:spPr>
          <a:xfrm>
            <a:off x="7223760" y="3776472"/>
            <a:ext cx="128016" cy="128016"/>
          </a:xfrm>
          <a:prstGeom prst="ellipse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anim_272"/>
          <p:cNvSpPr txBox="1"/>
          <p:nvPr/>
        </p:nvSpPr>
        <p:spPr>
          <a:xfrm>
            <a:off x="6656832" y="2697480"/>
            <a:ext cx="113385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4000"/>
              </a:lnSpc>
            </a:pPr>
            <a:r>
              <a:rPr sz="800" b="1">
                <a:solidFill>
                  <a:srgbClr val="0057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MONTH 3+</a:t>
            </a:r>
            <a:endParaRPr sz="800" b="1">
              <a:solidFill>
                <a:srgbClr val="0057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8" name="anim_273"/>
          <p:cNvSpPr txBox="1"/>
          <p:nvPr/>
        </p:nvSpPr>
        <p:spPr>
          <a:xfrm>
            <a:off x="6446520" y="2953512"/>
            <a:ext cx="155448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4000"/>
              </a:lnSpc>
            </a:pPr>
            <a:r>
              <a:rPr sz="14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越练越熟</a:t>
            </a:r>
            <a:endParaRPr sz="1400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anim_274"/>
          <p:cNvSpPr txBox="1"/>
          <p:nvPr/>
        </p:nvSpPr>
        <p:spPr>
          <a:xfrm>
            <a:off x="6355080" y="3355848"/>
            <a:ext cx="17373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4000"/>
              </a:lnSpc>
            </a:pPr>
            <a:r>
              <a:rPr sz="930" b="0">
                <a:solidFill>
                  <a:srgbClr val="4A4A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身体开始形成记忆</a:t>
            </a:r>
            <a:endParaRPr sz="930" b="0">
              <a:solidFill>
                <a:srgbClr val="4A4A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anim_275"/>
          <p:cNvSpPr/>
          <p:nvPr/>
        </p:nvSpPr>
        <p:spPr>
          <a:xfrm>
            <a:off x="10149840" y="3776472"/>
            <a:ext cx="128016" cy="128016"/>
          </a:xfrm>
          <a:prstGeom prst="ellipse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anim_276"/>
          <p:cNvSpPr txBox="1"/>
          <p:nvPr/>
        </p:nvSpPr>
        <p:spPr>
          <a:xfrm>
            <a:off x="9582912" y="4160520"/>
            <a:ext cx="113385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4000"/>
              </a:lnSpc>
            </a:pPr>
            <a:r>
              <a:rPr sz="800" b="1">
                <a:solidFill>
                  <a:srgbClr val="0057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LIFETIME</a:t>
            </a:r>
            <a:endParaRPr sz="800" b="1">
              <a:solidFill>
                <a:srgbClr val="0057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2" name="anim_277"/>
          <p:cNvSpPr txBox="1"/>
          <p:nvPr/>
        </p:nvSpPr>
        <p:spPr>
          <a:xfrm>
            <a:off x="9372600" y="4416552"/>
            <a:ext cx="155448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4000"/>
              </a:lnSpc>
            </a:pPr>
            <a:r>
              <a:rPr sz="14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长期系统</a:t>
            </a:r>
            <a:endParaRPr sz="1400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anim_278"/>
          <p:cNvSpPr txBox="1"/>
          <p:nvPr/>
        </p:nvSpPr>
        <p:spPr>
          <a:xfrm>
            <a:off x="9281160" y="4818888"/>
            <a:ext cx="17373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4000"/>
              </a:lnSpc>
            </a:pPr>
            <a:r>
              <a:rPr sz="930" b="0">
                <a:solidFill>
                  <a:srgbClr val="4A4A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每月都有机会重新开始</a:t>
            </a:r>
            <a:endParaRPr sz="930" b="0">
              <a:solidFill>
                <a:srgbClr val="4A4A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49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6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8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0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24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4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98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18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8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2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7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26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68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0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74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34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688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38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810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42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940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46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078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50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2240"/>
                            </p:stCondLst>
                            <p:childTnLst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1040"/>
                                  </p:stCondLst>
                                  <p:childTnLst>
                                    <p:set>
                                      <p:cBhvr>
                                        <p:cTn id="54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3780"/>
                            </p:stCondLst>
                            <p:childTnLst>
                              <p:par>
                                <p:cTn id="57" presetID="10" presetClass="entr" presetSubtype="0" fill="hold" grpId="0" nodeType="after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58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5380"/>
                            </p:stCondLst>
                            <p:childTnLst>
                              <p:par>
                                <p:cTn id="61" presetID="10" presetClass="entr" presetSubtype="0" fill="hold" grpId="0" nodeType="after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62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698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66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18580"/>
                            </p:stCondLst>
                            <p:childTnLst>
                              <p:par>
                                <p:cTn id="69" presetID="10" presetClass="entr" presetSubtype="0" fill="hold" grpId="0" nodeType="after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70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20180"/>
                            </p:stCondLst>
                            <p:childTnLst>
                              <p:par>
                                <p:cTn id="73" presetID="10" presetClass="entr" presetSubtype="0" fill="hold" grpId="0" nodeType="after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74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8" grpId="0" animBg="1"/>
      <p:bldP spid="9" grpId="0"/>
      <p:bldP spid="10" grpId="0"/>
      <p:bldP spid="11" grpId="0"/>
      <p:bldP spid="12" grpId="0" animBg="1"/>
      <p:bldP spid="13" grpId="0"/>
      <p:bldP spid="14" grpId="0"/>
      <p:bldP spid="15" grpId="0"/>
      <p:bldP spid="16" grpId="0" animBg="1"/>
      <p:bldP spid="17" grpId="0"/>
      <p:bldP spid="18" grpId="0"/>
      <p:bldP spid="19" grpId="0"/>
      <p:bldP spid="20" grpId="0" animBg="1"/>
      <p:bldP spid="21" grpId="0"/>
      <p:bldP spid="22" grpId="0"/>
      <p:bldP spid="23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56692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750" b="0">
                <a:solidFill>
                  <a:srgbClr val="11111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19 / 21 · WHY NOW</a:t>
            </a:r>
            <a:endParaRPr sz="750" b="0">
              <a:solidFill>
                <a:srgbClr val="11111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869680" y="292608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4000"/>
              </a:lnSpc>
            </a:pPr>
            <a:r>
              <a:rPr sz="750" b="0">
                <a:solidFill>
                  <a:srgbClr val="11111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RIGHT MOMENT</a:t>
            </a:r>
            <a:endParaRPr sz="750" b="0">
              <a:solidFill>
                <a:srgbClr val="11111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594360" y="612648"/>
            <a:ext cx="11000232" cy="0"/>
          </a:xfrm>
          <a:prstGeom prst="line">
            <a:avLst/>
          </a:prstGeom>
          <a:ln w="4445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anim_279"/>
          <p:cNvSpPr txBox="1"/>
          <p:nvPr/>
        </p:nvSpPr>
        <p:spPr>
          <a:xfrm>
            <a:off x="594360" y="987552"/>
            <a:ext cx="5029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800" b="1">
                <a:solidFill>
                  <a:srgbClr val="0057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WHY NOW</a:t>
            </a:r>
            <a:endParaRPr sz="800" b="1">
              <a:solidFill>
                <a:srgbClr val="0057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" name="anim_280"/>
          <p:cNvSpPr txBox="1"/>
          <p:nvPr/>
        </p:nvSpPr>
        <p:spPr>
          <a:xfrm>
            <a:off x="594360" y="1316736"/>
            <a:ext cx="10607040" cy="10789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34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健康不会等你准备好了
才开始下滑。</a:t>
            </a:r>
            <a:endParaRPr sz="340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anim_281"/>
          <p:cNvSpPr/>
          <p:nvPr/>
        </p:nvSpPr>
        <p:spPr>
          <a:xfrm>
            <a:off x="640080" y="2971800"/>
            <a:ext cx="3200400" cy="2011680"/>
          </a:xfrm>
          <a:prstGeom prst="rect">
            <a:avLst/>
          </a:prstGeom>
          <a:solidFill>
            <a:srgbClr val="F7F7F1"/>
          </a:solidFill>
          <a:ln w="1016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anim_282"/>
          <p:cNvSpPr txBox="1"/>
          <p:nvPr/>
        </p:nvSpPr>
        <p:spPr>
          <a:xfrm>
            <a:off x="841247" y="3118104"/>
            <a:ext cx="7315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750" b="0">
                <a:solidFill>
                  <a:srgbClr val="0057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01</a:t>
            </a:r>
            <a:endParaRPr sz="750" b="0">
              <a:solidFill>
                <a:srgbClr val="0057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9" name="anim_283"/>
          <p:cNvSpPr txBox="1"/>
          <p:nvPr/>
        </p:nvSpPr>
        <p:spPr>
          <a:xfrm>
            <a:off x="841247" y="3383280"/>
            <a:ext cx="2798064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6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你已经知道很多</a:t>
            </a:r>
            <a:endParaRPr sz="1600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anim_284"/>
          <p:cNvSpPr txBox="1"/>
          <p:nvPr/>
        </p:nvSpPr>
        <p:spPr>
          <a:xfrm>
            <a:off x="841247" y="3794760"/>
            <a:ext cx="2798064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20" b="0">
                <a:solidFill>
                  <a:srgbClr val="4C4C4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真正缺的不是再收藏一个方法。</a:t>
            </a:r>
            <a:endParaRPr sz="1020" b="0">
              <a:solidFill>
                <a:srgbClr val="4C4C4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anim_285"/>
          <p:cNvSpPr/>
          <p:nvPr/>
        </p:nvSpPr>
        <p:spPr>
          <a:xfrm>
            <a:off x="4389120" y="2971800"/>
            <a:ext cx="3200400" cy="2011680"/>
          </a:xfrm>
          <a:prstGeom prst="rect">
            <a:avLst/>
          </a:prstGeom>
          <a:solidFill>
            <a:srgbClr val="F7F7F1"/>
          </a:solidFill>
          <a:ln w="1016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anim_286"/>
          <p:cNvSpPr txBox="1"/>
          <p:nvPr/>
        </p:nvSpPr>
        <p:spPr>
          <a:xfrm>
            <a:off x="4590288" y="3118104"/>
            <a:ext cx="7315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750" b="0">
                <a:solidFill>
                  <a:srgbClr val="0057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02</a:t>
            </a:r>
            <a:endParaRPr sz="750" b="0">
              <a:solidFill>
                <a:srgbClr val="0057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3" name="anim_287"/>
          <p:cNvSpPr txBox="1"/>
          <p:nvPr/>
        </p:nvSpPr>
        <p:spPr>
          <a:xfrm>
            <a:off x="4590288" y="3383280"/>
            <a:ext cx="2798064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6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系统刚开始升级</a:t>
            </a:r>
            <a:endParaRPr sz="1600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anim_288"/>
          <p:cNvSpPr txBox="1"/>
          <p:nvPr/>
        </p:nvSpPr>
        <p:spPr>
          <a:xfrm>
            <a:off x="4590288" y="3794760"/>
            <a:ext cx="2798064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20" b="0">
                <a:solidFill>
                  <a:srgbClr val="4C4C4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内容、直播、社群机制会持续迭代。</a:t>
            </a:r>
            <a:endParaRPr sz="1020" b="0">
              <a:solidFill>
                <a:srgbClr val="4C4C4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anim_289"/>
          <p:cNvSpPr/>
          <p:nvPr/>
        </p:nvSpPr>
        <p:spPr>
          <a:xfrm>
            <a:off x="8138159" y="2971800"/>
            <a:ext cx="3200400" cy="2011680"/>
          </a:xfrm>
          <a:prstGeom prst="rect">
            <a:avLst/>
          </a:prstGeom>
          <a:solidFill>
            <a:srgbClr val="0057FF"/>
          </a:solidFill>
          <a:ln w="10160">
            <a:solidFill>
              <a:srgbClr val="005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anim_290"/>
          <p:cNvSpPr txBox="1"/>
          <p:nvPr/>
        </p:nvSpPr>
        <p:spPr>
          <a:xfrm>
            <a:off x="8339327" y="3118104"/>
            <a:ext cx="7315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750" b="0">
                <a:solidFill>
                  <a:srgbClr val="11111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03</a:t>
            </a:r>
            <a:endParaRPr sz="750" b="0">
              <a:solidFill>
                <a:srgbClr val="11111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7" name="anim_291"/>
          <p:cNvSpPr txBox="1"/>
          <p:nvPr/>
        </p:nvSpPr>
        <p:spPr>
          <a:xfrm>
            <a:off x="8339327" y="3383280"/>
            <a:ext cx="2798064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6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首批权益不同</a:t>
            </a:r>
            <a:endParaRPr sz="1600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anim_292"/>
          <p:cNvSpPr txBox="1"/>
          <p:nvPr/>
        </p:nvSpPr>
        <p:spPr>
          <a:xfrm>
            <a:off x="8339327" y="3794760"/>
            <a:ext cx="2798064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20" b="0">
                <a:solidFill>
                  <a:srgbClr val="4C4C4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终身免费复训，给最早开始的人。</a:t>
            </a:r>
            <a:endParaRPr sz="1020" b="0">
              <a:solidFill>
                <a:srgbClr val="4C4C4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49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6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8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0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24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4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98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18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8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2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7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26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68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0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74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34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688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38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810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42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940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46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078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50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2240"/>
                            </p:stCondLst>
                            <p:childTnLst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1040"/>
                                  </p:stCondLst>
                                  <p:childTnLst>
                                    <p:set>
                                      <p:cBhvr>
                                        <p:cTn id="54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3780"/>
                            </p:stCondLst>
                            <p:childTnLst>
                              <p:par>
                                <p:cTn id="57" presetID="10" presetClass="entr" presetSubtype="0" fill="hold" grpId="0" nodeType="after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58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 animBg="1"/>
      <p:bldP spid="8" grpId="0"/>
      <p:bldP spid="9" grpId="0"/>
      <p:bldP spid="10" grpId="0"/>
      <p:bldP spid="11" grpId="0" animBg="1"/>
      <p:bldP spid="12" grpId="0"/>
      <p:bldP spid="13" grpId="0"/>
      <p:bldP spid="14" grpId="0"/>
      <p:bldP spid="15" grpId="0" animBg="1"/>
      <p:bldP spid="16" grpId="0"/>
      <p:bldP spid="17" grpId="0"/>
      <p:bldP spid="18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56692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750" b="0">
                <a:solidFill>
                  <a:srgbClr val="11111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20 / 21 · FIRST COHORT RIGHTS</a:t>
            </a:r>
            <a:endParaRPr sz="750" b="0">
              <a:solidFill>
                <a:srgbClr val="11111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869680" y="292608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4000"/>
              </a:lnSpc>
            </a:pPr>
            <a:r>
              <a:rPr sz="750" b="0">
                <a:solidFill>
                  <a:srgbClr val="11111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BUY ONCE</a:t>
            </a:r>
            <a:endParaRPr sz="750" b="0">
              <a:solidFill>
                <a:srgbClr val="11111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594360" y="612648"/>
            <a:ext cx="11000232" cy="0"/>
          </a:xfrm>
          <a:prstGeom prst="line">
            <a:avLst/>
          </a:prstGeom>
          <a:ln w="4445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anim_293"/>
          <p:cNvSpPr txBox="1"/>
          <p:nvPr/>
        </p:nvSpPr>
        <p:spPr>
          <a:xfrm>
            <a:off x="594360" y="987552"/>
            <a:ext cx="5029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800" b="1">
                <a:solidFill>
                  <a:srgbClr val="0057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FIRST RIGHTS</a:t>
            </a:r>
            <a:endParaRPr sz="800" b="1">
              <a:solidFill>
                <a:srgbClr val="0057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" name="anim_294"/>
          <p:cNvSpPr txBox="1"/>
          <p:nvPr/>
        </p:nvSpPr>
        <p:spPr>
          <a:xfrm>
            <a:off x="594360" y="1316736"/>
            <a:ext cx="10607040" cy="10789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34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先把最重要的福利说清楚。</a:t>
            </a:r>
            <a:endParaRPr sz="340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anim_295"/>
          <p:cNvSpPr txBox="1"/>
          <p:nvPr/>
        </p:nvSpPr>
        <p:spPr>
          <a:xfrm>
            <a:off x="822960" y="2743200"/>
            <a:ext cx="20116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3400" b="0">
                <a:solidFill>
                  <a:srgbClr val="0057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21</a:t>
            </a:r>
            <a:endParaRPr sz="3400" b="0">
              <a:solidFill>
                <a:srgbClr val="0057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8" name="anim_296"/>
          <p:cNvSpPr txBox="1"/>
          <p:nvPr/>
        </p:nvSpPr>
        <p:spPr>
          <a:xfrm>
            <a:off x="822960" y="3429000"/>
            <a:ext cx="28803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3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天为一个完整周期，每月开新一期。</a:t>
            </a:r>
            <a:endParaRPr sz="130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anim_297"/>
          <p:cNvSpPr txBox="1"/>
          <p:nvPr/>
        </p:nvSpPr>
        <p:spPr>
          <a:xfrm>
            <a:off x="4526280" y="2743200"/>
            <a:ext cx="20116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3400" b="0">
                <a:solidFill>
                  <a:srgbClr val="0057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∞</a:t>
            </a:r>
            <a:endParaRPr sz="3400" b="0">
              <a:solidFill>
                <a:srgbClr val="0057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0" name="anim_298"/>
          <p:cNvSpPr txBox="1"/>
          <p:nvPr/>
        </p:nvSpPr>
        <p:spPr>
          <a:xfrm>
            <a:off x="4526280" y="3429000"/>
            <a:ext cx="28803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3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首批学员享受终身免费复训。</a:t>
            </a:r>
            <a:endParaRPr sz="130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anim_299"/>
          <p:cNvSpPr txBox="1"/>
          <p:nvPr/>
        </p:nvSpPr>
        <p:spPr>
          <a:xfrm>
            <a:off x="8229600" y="2743200"/>
            <a:ext cx="20116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3400" b="0">
                <a:solidFill>
                  <a:srgbClr val="0057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WED</a:t>
            </a:r>
            <a:endParaRPr sz="3400" b="0">
              <a:solidFill>
                <a:srgbClr val="0057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2" name="anim_300"/>
          <p:cNvSpPr txBox="1"/>
          <p:nvPr/>
        </p:nvSpPr>
        <p:spPr>
          <a:xfrm>
            <a:off x="8229600" y="3429000"/>
            <a:ext cx="28803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3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每周三新内容直播，持续升级。</a:t>
            </a:r>
            <a:endParaRPr sz="130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3" name="Connector 12"/>
          <p:cNvCxnSpPr/>
          <p:nvPr/>
        </p:nvCxnSpPr>
        <p:spPr>
          <a:xfrm>
            <a:off x="822960" y="4709160"/>
            <a:ext cx="10561320" cy="0"/>
          </a:xfrm>
          <a:prstGeom prst="line">
            <a:avLst/>
          </a:prstGeom>
          <a:ln w="15240">
            <a:solidFill>
              <a:srgbClr val="005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anim_301"/>
          <p:cNvSpPr txBox="1"/>
          <p:nvPr/>
        </p:nvSpPr>
        <p:spPr>
          <a:xfrm>
            <a:off x="822960" y="4919472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3200" b="0">
                <a:solidFill>
                  <a:srgbClr val="0057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ONCE</a:t>
            </a:r>
            <a:endParaRPr sz="3200" b="0">
              <a:solidFill>
                <a:srgbClr val="0057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5" name="anim_302"/>
          <p:cNvSpPr txBox="1"/>
          <p:nvPr/>
        </p:nvSpPr>
        <p:spPr>
          <a:xfrm>
            <a:off x="3657600" y="4956048"/>
            <a:ext cx="61264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6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真正重要的不是参加一次，而是以后每次需要重启，都能回到系统里。</a:t>
            </a:r>
            <a:endParaRPr sz="160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49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6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8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0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24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4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98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18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8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2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7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26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68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0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74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34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688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38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810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42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4" grpId="0"/>
      <p:bldP spid="15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56692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750" b="0">
                <a:solidFill>
                  <a:srgbClr val="11111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21 / 21 · FIRST COHORT</a:t>
            </a:r>
            <a:endParaRPr sz="750" b="0">
              <a:solidFill>
                <a:srgbClr val="11111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869680" y="292608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4000"/>
              </a:lnSpc>
            </a:pPr>
            <a:r>
              <a:rPr sz="750" b="0">
                <a:solidFill>
                  <a:srgbClr val="11111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START</a:t>
            </a:r>
            <a:endParaRPr sz="750" b="0">
              <a:solidFill>
                <a:srgbClr val="11111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594360" y="612648"/>
            <a:ext cx="11000232" cy="0"/>
          </a:xfrm>
          <a:prstGeom prst="line">
            <a:avLst/>
          </a:prstGeom>
          <a:ln w="4445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0" y="0"/>
            <a:ext cx="4846320" cy="6858000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20040" y="914400"/>
            <a:ext cx="14630" cy="14630"/>
          </a:xfrm>
          <a:prstGeom prst="ellipse">
            <a:avLst/>
          </a:prstGeom>
          <a:solidFill>
            <a:srgbClr val="5D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20040" y="1737360"/>
            <a:ext cx="14630" cy="14630"/>
          </a:xfrm>
          <a:prstGeom prst="ellipse">
            <a:avLst/>
          </a:prstGeom>
          <a:solidFill>
            <a:srgbClr val="5D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20040" y="2560320"/>
            <a:ext cx="14630" cy="14630"/>
          </a:xfrm>
          <a:prstGeom prst="ellipse">
            <a:avLst/>
          </a:prstGeom>
          <a:solidFill>
            <a:srgbClr val="5D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20040" y="3383279"/>
            <a:ext cx="14630" cy="14630"/>
          </a:xfrm>
          <a:prstGeom prst="ellipse">
            <a:avLst/>
          </a:prstGeom>
          <a:solidFill>
            <a:srgbClr val="5D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20040" y="4206240"/>
            <a:ext cx="14630" cy="14630"/>
          </a:xfrm>
          <a:prstGeom prst="ellipse">
            <a:avLst/>
          </a:prstGeom>
          <a:solidFill>
            <a:srgbClr val="5D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20040" y="5029200"/>
            <a:ext cx="14630" cy="14630"/>
          </a:xfrm>
          <a:prstGeom prst="ellipse">
            <a:avLst/>
          </a:prstGeom>
          <a:solidFill>
            <a:srgbClr val="5D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94359" y="1463040"/>
            <a:ext cx="14630" cy="14630"/>
          </a:xfrm>
          <a:prstGeom prst="ellipse">
            <a:avLst/>
          </a:prstGeom>
          <a:solidFill>
            <a:srgbClr val="5D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94359" y="2286000"/>
            <a:ext cx="14630" cy="14630"/>
          </a:xfrm>
          <a:prstGeom prst="ellipse">
            <a:avLst/>
          </a:prstGeom>
          <a:solidFill>
            <a:srgbClr val="5D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94359" y="3108960"/>
            <a:ext cx="14630" cy="14630"/>
          </a:xfrm>
          <a:prstGeom prst="ellipse">
            <a:avLst/>
          </a:prstGeom>
          <a:solidFill>
            <a:srgbClr val="5D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94359" y="3931920"/>
            <a:ext cx="14630" cy="14630"/>
          </a:xfrm>
          <a:prstGeom prst="ellipse">
            <a:avLst/>
          </a:prstGeom>
          <a:solidFill>
            <a:srgbClr val="5D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94359" y="4754880"/>
            <a:ext cx="14630" cy="14630"/>
          </a:xfrm>
          <a:prstGeom prst="ellipse">
            <a:avLst/>
          </a:prstGeom>
          <a:solidFill>
            <a:srgbClr val="5D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68680" y="1188720"/>
            <a:ext cx="14630" cy="14630"/>
          </a:xfrm>
          <a:prstGeom prst="ellipse">
            <a:avLst/>
          </a:prstGeom>
          <a:solidFill>
            <a:srgbClr val="5D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68680" y="2011680"/>
            <a:ext cx="14630" cy="14630"/>
          </a:xfrm>
          <a:prstGeom prst="ellipse">
            <a:avLst/>
          </a:prstGeom>
          <a:solidFill>
            <a:srgbClr val="5D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68680" y="2834640"/>
            <a:ext cx="14630" cy="14630"/>
          </a:xfrm>
          <a:prstGeom prst="ellipse">
            <a:avLst/>
          </a:prstGeom>
          <a:solidFill>
            <a:srgbClr val="5D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68680" y="3657600"/>
            <a:ext cx="14630" cy="14630"/>
          </a:xfrm>
          <a:prstGeom prst="ellipse">
            <a:avLst/>
          </a:prstGeom>
          <a:solidFill>
            <a:srgbClr val="5D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68680" y="4480560"/>
            <a:ext cx="14630" cy="14630"/>
          </a:xfrm>
          <a:prstGeom prst="ellipse">
            <a:avLst/>
          </a:prstGeom>
          <a:solidFill>
            <a:srgbClr val="5D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43000" y="914400"/>
            <a:ext cx="14630" cy="14630"/>
          </a:xfrm>
          <a:prstGeom prst="ellipse">
            <a:avLst/>
          </a:prstGeom>
          <a:solidFill>
            <a:srgbClr val="5D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43000" y="1737360"/>
            <a:ext cx="14630" cy="14630"/>
          </a:xfrm>
          <a:prstGeom prst="ellipse">
            <a:avLst/>
          </a:prstGeom>
          <a:solidFill>
            <a:srgbClr val="5D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143000" y="2560320"/>
            <a:ext cx="14630" cy="14630"/>
          </a:xfrm>
          <a:prstGeom prst="ellipse">
            <a:avLst/>
          </a:prstGeom>
          <a:solidFill>
            <a:srgbClr val="5D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43000" y="3383279"/>
            <a:ext cx="14630" cy="14630"/>
          </a:xfrm>
          <a:prstGeom prst="ellipse">
            <a:avLst/>
          </a:prstGeom>
          <a:solidFill>
            <a:srgbClr val="5D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143000" y="4206240"/>
            <a:ext cx="14630" cy="14630"/>
          </a:xfrm>
          <a:prstGeom prst="ellipse">
            <a:avLst/>
          </a:prstGeom>
          <a:solidFill>
            <a:srgbClr val="5D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43000" y="5029200"/>
            <a:ext cx="14630" cy="14630"/>
          </a:xfrm>
          <a:prstGeom prst="ellipse">
            <a:avLst/>
          </a:prstGeom>
          <a:solidFill>
            <a:srgbClr val="5D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417319" y="1463040"/>
            <a:ext cx="14630" cy="14630"/>
          </a:xfrm>
          <a:prstGeom prst="ellipse">
            <a:avLst/>
          </a:prstGeom>
          <a:solidFill>
            <a:srgbClr val="5D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417319" y="2286000"/>
            <a:ext cx="14630" cy="14630"/>
          </a:xfrm>
          <a:prstGeom prst="ellipse">
            <a:avLst/>
          </a:prstGeom>
          <a:solidFill>
            <a:srgbClr val="5D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417319" y="3108960"/>
            <a:ext cx="14630" cy="14630"/>
          </a:xfrm>
          <a:prstGeom prst="ellipse">
            <a:avLst/>
          </a:prstGeom>
          <a:solidFill>
            <a:srgbClr val="5D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417319" y="3931920"/>
            <a:ext cx="14630" cy="14630"/>
          </a:xfrm>
          <a:prstGeom prst="ellipse">
            <a:avLst/>
          </a:prstGeom>
          <a:solidFill>
            <a:srgbClr val="5D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417319" y="4754880"/>
            <a:ext cx="14630" cy="14630"/>
          </a:xfrm>
          <a:prstGeom prst="ellipse">
            <a:avLst/>
          </a:prstGeom>
          <a:solidFill>
            <a:srgbClr val="5D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691640" y="1188720"/>
            <a:ext cx="14630" cy="14630"/>
          </a:xfrm>
          <a:prstGeom prst="ellipse">
            <a:avLst/>
          </a:prstGeom>
          <a:solidFill>
            <a:srgbClr val="5D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691640" y="2011680"/>
            <a:ext cx="14630" cy="14630"/>
          </a:xfrm>
          <a:prstGeom prst="ellipse">
            <a:avLst/>
          </a:prstGeom>
          <a:solidFill>
            <a:srgbClr val="5D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691640" y="2834640"/>
            <a:ext cx="14630" cy="14630"/>
          </a:xfrm>
          <a:prstGeom prst="ellipse">
            <a:avLst/>
          </a:prstGeom>
          <a:solidFill>
            <a:srgbClr val="5D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691640" y="3657600"/>
            <a:ext cx="14630" cy="14630"/>
          </a:xfrm>
          <a:prstGeom prst="ellipse">
            <a:avLst/>
          </a:prstGeom>
          <a:solidFill>
            <a:srgbClr val="5D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691640" y="4480560"/>
            <a:ext cx="14630" cy="14630"/>
          </a:xfrm>
          <a:prstGeom prst="ellipse">
            <a:avLst/>
          </a:prstGeom>
          <a:solidFill>
            <a:srgbClr val="5D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965960" y="914400"/>
            <a:ext cx="14630" cy="14630"/>
          </a:xfrm>
          <a:prstGeom prst="ellipse">
            <a:avLst/>
          </a:prstGeom>
          <a:solidFill>
            <a:srgbClr val="5D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965960" y="1737360"/>
            <a:ext cx="14630" cy="14630"/>
          </a:xfrm>
          <a:prstGeom prst="ellipse">
            <a:avLst/>
          </a:prstGeom>
          <a:solidFill>
            <a:srgbClr val="5D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965960" y="2560320"/>
            <a:ext cx="14630" cy="14630"/>
          </a:xfrm>
          <a:prstGeom prst="ellipse">
            <a:avLst/>
          </a:prstGeom>
          <a:solidFill>
            <a:srgbClr val="5D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965960" y="3383279"/>
            <a:ext cx="14630" cy="14630"/>
          </a:xfrm>
          <a:prstGeom prst="ellipse">
            <a:avLst/>
          </a:prstGeom>
          <a:solidFill>
            <a:srgbClr val="5D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965960" y="4206240"/>
            <a:ext cx="14630" cy="14630"/>
          </a:xfrm>
          <a:prstGeom prst="ellipse">
            <a:avLst/>
          </a:prstGeom>
          <a:solidFill>
            <a:srgbClr val="5D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965960" y="5029200"/>
            <a:ext cx="14630" cy="14630"/>
          </a:xfrm>
          <a:prstGeom prst="ellipse">
            <a:avLst/>
          </a:prstGeom>
          <a:solidFill>
            <a:srgbClr val="5D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2240280" y="1463040"/>
            <a:ext cx="14630" cy="14630"/>
          </a:xfrm>
          <a:prstGeom prst="ellipse">
            <a:avLst/>
          </a:prstGeom>
          <a:solidFill>
            <a:srgbClr val="5D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2240280" y="2286000"/>
            <a:ext cx="14630" cy="14630"/>
          </a:xfrm>
          <a:prstGeom prst="ellipse">
            <a:avLst/>
          </a:prstGeom>
          <a:solidFill>
            <a:srgbClr val="5D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2240280" y="3108960"/>
            <a:ext cx="14630" cy="14630"/>
          </a:xfrm>
          <a:prstGeom prst="ellipse">
            <a:avLst/>
          </a:prstGeom>
          <a:solidFill>
            <a:srgbClr val="5D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2240280" y="3931920"/>
            <a:ext cx="14630" cy="14630"/>
          </a:xfrm>
          <a:prstGeom prst="ellipse">
            <a:avLst/>
          </a:prstGeom>
          <a:solidFill>
            <a:srgbClr val="5D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2240280" y="4754880"/>
            <a:ext cx="14630" cy="14630"/>
          </a:xfrm>
          <a:prstGeom prst="ellipse">
            <a:avLst/>
          </a:prstGeom>
          <a:solidFill>
            <a:srgbClr val="5D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2514600" y="1188720"/>
            <a:ext cx="14630" cy="14630"/>
          </a:xfrm>
          <a:prstGeom prst="ellipse">
            <a:avLst/>
          </a:prstGeom>
          <a:solidFill>
            <a:srgbClr val="5D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2514600" y="2011680"/>
            <a:ext cx="14630" cy="14630"/>
          </a:xfrm>
          <a:prstGeom prst="ellipse">
            <a:avLst/>
          </a:prstGeom>
          <a:solidFill>
            <a:srgbClr val="5D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2514600" y="2834640"/>
            <a:ext cx="14630" cy="14630"/>
          </a:xfrm>
          <a:prstGeom prst="ellipse">
            <a:avLst/>
          </a:prstGeom>
          <a:solidFill>
            <a:srgbClr val="5D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2514600" y="3657600"/>
            <a:ext cx="14630" cy="14630"/>
          </a:xfrm>
          <a:prstGeom prst="ellipse">
            <a:avLst/>
          </a:prstGeom>
          <a:solidFill>
            <a:srgbClr val="5D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2514600" y="4480560"/>
            <a:ext cx="14630" cy="14630"/>
          </a:xfrm>
          <a:prstGeom prst="ellipse">
            <a:avLst/>
          </a:prstGeom>
          <a:solidFill>
            <a:srgbClr val="5D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2788920" y="914400"/>
            <a:ext cx="14630" cy="14630"/>
          </a:xfrm>
          <a:prstGeom prst="ellipse">
            <a:avLst/>
          </a:prstGeom>
          <a:solidFill>
            <a:srgbClr val="5D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2788920" y="1737360"/>
            <a:ext cx="14630" cy="14630"/>
          </a:xfrm>
          <a:prstGeom prst="ellipse">
            <a:avLst/>
          </a:prstGeom>
          <a:solidFill>
            <a:srgbClr val="5D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2788920" y="2560320"/>
            <a:ext cx="14630" cy="14630"/>
          </a:xfrm>
          <a:prstGeom prst="ellipse">
            <a:avLst/>
          </a:prstGeom>
          <a:solidFill>
            <a:srgbClr val="5D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2788920" y="3383279"/>
            <a:ext cx="14630" cy="14630"/>
          </a:xfrm>
          <a:prstGeom prst="ellipse">
            <a:avLst/>
          </a:prstGeom>
          <a:solidFill>
            <a:srgbClr val="5D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2788920" y="4206240"/>
            <a:ext cx="14630" cy="14630"/>
          </a:xfrm>
          <a:prstGeom prst="ellipse">
            <a:avLst/>
          </a:prstGeom>
          <a:solidFill>
            <a:srgbClr val="5D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2788920" y="5029200"/>
            <a:ext cx="14630" cy="14630"/>
          </a:xfrm>
          <a:prstGeom prst="ellipse">
            <a:avLst/>
          </a:prstGeom>
          <a:solidFill>
            <a:srgbClr val="5D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3063240" y="1463040"/>
            <a:ext cx="14630" cy="14630"/>
          </a:xfrm>
          <a:prstGeom prst="ellipse">
            <a:avLst/>
          </a:prstGeom>
          <a:solidFill>
            <a:srgbClr val="5D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3063240" y="2286000"/>
            <a:ext cx="14630" cy="14630"/>
          </a:xfrm>
          <a:prstGeom prst="ellipse">
            <a:avLst/>
          </a:prstGeom>
          <a:solidFill>
            <a:srgbClr val="5D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3063240" y="3108960"/>
            <a:ext cx="14630" cy="14630"/>
          </a:xfrm>
          <a:prstGeom prst="ellipse">
            <a:avLst/>
          </a:prstGeom>
          <a:solidFill>
            <a:srgbClr val="5D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3063240" y="3931920"/>
            <a:ext cx="14630" cy="14630"/>
          </a:xfrm>
          <a:prstGeom prst="ellipse">
            <a:avLst/>
          </a:prstGeom>
          <a:solidFill>
            <a:srgbClr val="5D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3063240" y="4754880"/>
            <a:ext cx="14630" cy="14630"/>
          </a:xfrm>
          <a:prstGeom prst="ellipse">
            <a:avLst/>
          </a:prstGeom>
          <a:solidFill>
            <a:srgbClr val="5D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3337560" y="1188720"/>
            <a:ext cx="14630" cy="14630"/>
          </a:xfrm>
          <a:prstGeom prst="ellipse">
            <a:avLst/>
          </a:prstGeom>
          <a:solidFill>
            <a:srgbClr val="5D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3337560" y="2011680"/>
            <a:ext cx="14630" cy="14630"/>
          </a:xfrm>
          <a:prstGeom prst="ellipse">
            <a:avLst/>
          </a:prstGeom>
          <a:solidFill>
            <a:srgbClr val="5D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3337560" y="2834640"/>
            <a:ext cx="14630" cy="14630"/>
          </a:xfrm>
          <a:prstGeom prst="ellipse">
            <a:avLst/>
          </a:prstGeom>
          <a:solidFill>
            <a:srgbClr val="5D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3337560" y="3657600"/>
            <a:ext cx="14630" cy="14630"/>
          </a:xfrm>
          <a:prstGeom prst="ellipse">
            <a:avLst/>
          </a:prstGeom>
          <a:solidFill>
            <a:srgbClr val="5D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3337560" y="4480560"/>
            <a:ext cx="14630" cy="14630"/>
          </a:xfrm>
          <a:prstGeom prst="ellipse">
            <a:avLst/>
          </a:prstGeom>
          <a:solidFill>
            <a:srgbClr val="5D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3611879" y="914400"/>
            <a:ext cx="14630" cy="14630"/>
          </a:xfrm>
          <a:prstGeom prst="ellipse">
            <a:avLst/>
          </a:prstGeom>
          <a:solidFill>
            <a:srgbClr val="5D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3611879" y="1737360"/>
            <a:ext cx="14630" cy="14630"/>
          </a:xfrm>
          <a:prstGeom prst="ellipse">
            <a:avLst/>
          </a:prstGeom>
          <a:solidFill>
            <a:srgbClr val="5D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3611879" y="2560320"/>
            <a:ext cx="14630" cy="14630"/>
          </a:xfrm>
          <a:prstGeom prst="ellipse">
            <a:avLst/>
          </a:prstGeom>
          <a:solidFill>
            <a:srgbClr val="5D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3611879" y="3383279"/>
            <a:ext cx="14630" cy="14630"/>
          </a:xfrm>
          <a:prstGeom prst="ellipse">
            <a:avLst/>
          </a:prstGeom>
          <a:solidFill>
            <a:srgbClr val="5D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3611879" y="4206240"/>
            <a:ext cx="14630" cy="14630"/>
          </a:xfrm>
          <a:prstGeom prst="ellipse">
            <a:avLst/>
          </a:prstGeom>
          <a:solidFill>
            <a:srgbClr val="5D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3611879" y="5029200"/>
            <a:ext cx="14630" cy="14630"/>
          </a:xfrm>
          <a:prstGeom prst="ellipse">
            <a:avLst/>
          </a:prstGeom>
          <a:solidFill>
            <a:srgbClr val="5D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3886200" y="1463040"/>
            <a:ext cx="14630" cy="14630"/>
          </a:xfrm>
          <a:prstGeom prst="ellipse">
            <a:avLst/>
          </a:prstGeom>
          <a:solidFill>
            <a:srgbClr val="5D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3886200" y="2286000"/>
            <a:ext cx="14630" cy="14630"/>
          </a:xfrm>
          <a:prstGeom prst="ellipse">
            <a:avLst/>
          </a:prstGeom>
          <a:solidFill>
            <a:srgbClr val="5D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3886200" y="3108960"/>
            <a:ext cx="14630" cy="14630"/>
          </a:xfrm>
          <a:prstGeom prst="ellipse">
            <a:avLst/>
          </a:prstGeom>
          <a:solidFill>
            <a:srgbClr val="5D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3886200" y="3931920"/>
            <a:ext cx="14630" cy="14630"/>
          </a:xfrm>
          <a:prstGeom prst="ellipse">
            <a:avLst/>
          </a:prstGeom>
          <a:solidFill>
            <a:srgbClr val="5D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3886200" y="4754880"/>
            <a:ext cx="14630" cy="14630"/>
          </a:xfrm>
          <a:prstGeom prst="ellipse">
            <a:avLst/>
          </a:prstGeom>
          <a:solidFill>
            <a:srgbClr val="5D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4160520" y="1188720"/>
            <a:ext cx="14630" cy="14630"/>
          </a:xfrm>
          <a:prstGeom prst="ellipse">
            <a:avLst/>
          </a:prstGeom>
          <a:solidFill>
            <a:srgbClr val="5D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4160520" y="2011680"/>
            <a:ext cx="14630" cy="14630"/>
          </a:xfrm>
          <a:prstGeom prst="ellipse">
            <a:avLst/>
          </a:prstGeom>
          <a:solidFill>
            <a:srgbClr val="5D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4160520" y="2834640"/>
            <a:ext cx="14630" cy="14630"/>
          </a:xfrm>
          <a:prstGeom prst="ellipse">
            <a:avLst/>
          </a:prstGeom>
          <a:solidFill>
            <a:srgbClr val="5D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4160520" y="3657600"/>
            <a:ext cx="14630" cy="14630"/>
          </a:xfrm>
          <a:prstGeom prst="ellipse">
            <a:avLst/>
          </a:prstGeom>
          <a:solidFill>
            <a:srgbClr val="5D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4160520" y="4480560"/>
            <a:ext cx="14630" cy="14630"/>
          </a:xfrm>
          <a:prstGeom prst="ellipse">
            <a:avLst/>
          </a:prstGeom>
          <a:solidFill>
            <a:srgbClr val="5D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anim_303"/>
          <p:cNvSpPr txBox="1"/>
          <p:nvPr/>
        </p:nvSpPr>
        <p:spPr>
          <a:xfrm>
            <a:off x="640080" y="1234440"/>
            <a:ext cx="3474720" cy="2240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78000"/>
              </a:lnSpc>
            </a:pPr>
            <a:r>
              <a:rPr sz="46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399
首批
买断</a:t>
            </a:r>
            <a:endParaRPr sz="460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7" name="anim_304"/>
          <p:cNvSpPr txBox="1"/>
          <p:nvPr/>
        </p:nvSpPr>
        <p:spPr>
          <a:xfrm>
            <a:off x="685800" y="4983480"/>
            <a:ext cx="347472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4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21天为一期。每月开新一期。首批学员终身免费复训。</a:t>
            </a:r>
            <a:endParaRPr sz="140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8" name="anim_305"/>
          <p:cNvSpPr txBox="1"/>
          <p:nvPr/>
        </p:nvSpPr>
        <p:spPr>
          <a:xfrm>
            <a:off x="5715000" y="1371600"/>
            <a:ext cx="5212080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25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不是买一节课，
是进入一个能陪你执行、复训、重新开始的健康系统。</a:t>
            </a:r>
            <a:endParaRPr sz="250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9" name="anim_306"/>
          <p:cNvSpPr/>
          <p:nvPr/>
        </p:nvSpPr>
        <p:spPr>
          <a:xfrm>
            <a:off x="5715000" y="3383280"/>
            <a:ext cx="5166360" cy="960120"/>
          </a:xfrm>
          <a:prstGeom prst="rect">
            <a:avLst/>
          </a:prstGeom>
          <a:solidFill>
            <a:srgbClr val="0057FF"/>
          </a:solidFill>
          <a:ln w="10160">
            <a:solidFill>
              <a:srgbClr val="005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anim_307"/>
          <p:cNvSpPr txBox="1"/>
          <p:nvPr/>
        </p:nvSpPr>
        <p:spPr>
          <a:xfrm>
            <a:off x="5916168" y="3529584"/>
            <a:ext cx="7315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750" b="0">
                <a:solidFill>
                  <a:srgbClr val="11111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03</a:t>
            </a:r>
            <a:endParaRPr sz="750" b="0">
              <a:solidFill>
                <a:srgbClr val="11111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91" name="anim_308"/>
          <p:cNvSpPr txBox="1"/>
          <p:nvPr/>
        </p:nvSpPr>
        <p:spPr>
          <a:xfrm>
            <a:off x="5916168" y="3794760"/>
            <a:ext cx="4764024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6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首批权益很少见</a:t>
            </a:r>
            <a:endParaRPr sz="1600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2" name="anim_309"/>
          <p:cNvSpPr txBox="1"/>
          <p:nvPr/>
        </p:nvSpPr>
        <p:spPr>
          <a:xfrm>
            <a:off x="5916168" y="4206240"/>
            <a:ext cx="4764024" cy="91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20" b="0">
                <a:solidFill>
                  <a:srgbClr val="4C4C4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399买断，终身免费复训。错过本期，就等下期开营。</a:t>
            </a:r>
            <a:endParaRPr sz="1020" b="0">
              <a:solidFill>
                <a:srgbClr val="4C4C4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3" name="anim_310"/>
          <p:cNvSpPr txBox="1"/>
          <p:nvPr/>
        </p:nvSpPr>
        <p:spPr>
          <a:xfrm>
            <a:off x="5715000" y="5760720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900" b="0">
                <a:solidFill>
                  <a:srgbClr val="64646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START YOUR HEALTH OS</a:t>
            </a:r>
            <a:endParaRPr sz="900" b="0">
              <a:solidFill>
                <a:srgbClr val="64646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49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6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8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0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5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24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4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98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18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5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8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2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7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26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68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0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74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34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6" grpId="0"/>
      <p:bldP spid="87" grpId="0"/>
      <p:bldP spid="88" grpId="0"/>
      <p:bldP spid="89" grpId="0" animBg="1"/>
      <p:bldP spid="90" grpId="0"/>
      <p:bldP spid="91" grpId="0"/>
      <p:bldP spid="92" grpId="0"/>
      <p:bldP spid="93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2992</Words>
  <Application>WPS 演示</Application>
  <PresentationFormat>On-screen Show (4:3)</PresentationFormat>
  <Paragraphs>582</Paragraphs>
  <Slides>21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28" baseType="lpstr">
      <vt:lpstr>Arial</vt:lpstr>
      <vt:lpstr>宋体</vt:lpstr>
      <vt:lpstr>Wingdings</vt:lpstr>
      <vt:lpstr>Arial</vt:lpstr>
      <vt:lpstr>微软雅黑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杨中天</cp:lastModifiedBy>
  <cp:revision>2</cp:revision>
  <dcterms:created xsi:type="dcterms:W3CDTF">2013-01-27T09:14:00Z</dcterms:created>
  <dcterms:modified xsi:type="dcterms:W3CDTF">2026-06-06T11:52:21Z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969062D765644DDBBB9C7D2DAA8965D3_12</vt:lpwstr>
  </property>
  <property fmtid="{D5CDD505-2E9C-101B-9397-08002B2CF9AE}" pid="3" name="KSOProductBuildVer">
    <vt:lpwstr>2052-12.1.0.26375</vt:lpwstr>
  </property>
</Properties>
</file>